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65" r:id="rId7"/>
    <p:sldId id="266" r:id="rId8"/>
    <p:sldId id="263" r:id="rId9"/>
    <p:sldId id="269" r:id="rId10"/>
    <p:sldId id="270" r:id="rId11"/>
    <p:sldId id="271" r:id="rId12"/>
    <p:sldId id="272" r:id="rId13"/>
    <p:sldId id="273" r:id="rId14"/>
    <p:sldId id="274" r:id="rId15"/>
    <p:sldId id="275" r:id="rId16"/>
    <p:sldId id="276" r:id="rId17"/>
    <p:sldId id="277" r:id="rId18"/>
    <p:sldId id="278" r:id="rId19"/>
    <p:sldId id="261" r:id="rId20"/>
    <p:sldId id="264" r:id="rId21"/>
    <p:sldId id="262" r:id="rId22"/>
    <p:sldId id="259" r:id="rId23"/>
  </p:sldIdLst>
  <p:sldSz cx="12192000" cy="6858000"/>
  <p:notesSz cx="6858000" cy="9144000"/>
  <p:embeddedFontLst>
    <p:embeddedFont>
      <p:font typeface="Calibri" panose="020F0502020204030204"/>
      <p:regular r:id="rId27"/>
      <p:bold r:id="rId28"/>
      <p:italic r:id="rId29"/>
      <p:boldItalic r:id="rId30"/>
    </p:embeddedFont>
    <p:embeddedFont>
      <p:font typeface="Constantia" panose="02030602050306030303"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Lato Black" panose="020F0502020204030203"/>
      <p:bold r:id="rId39"/>
    </p:embeddedFont>
    <p:embeddedFont>
      <p:font typeface="Libre Baskerville" panose="0200000000000000000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howGuides="1">
      <p:cViewPr varScale="1">
        <p:scale>
          <a:sx n="65" d="100"/>
          <a:sy n="65" d="100"/>
        </p:scale>
        <p:origin x="-672"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4.fntdata"/><Relationship Id="rId4" Type="http://schemas.openxmlformats.org/officeDocument/2006/relationships/notesMaster" Target="notesMasters/notesMaster1.xml"/><Relationship Id="rId39" Type="http://schemas.openxmlformats.org/officeDocument/2006/relationships/font" Target="fonts/font13.fntdata"/><Relationship Id="rId38" Type="http://schemas.openxmlformats.org/officeDocument/2006/relationships/font" Target="fonts/font12.fntdata"/><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p:txBody>
      </p:sp>
      <p:sp>
        <p:nvSpPr>
          <p:cNvPr id="8" name="Footer Placeholder 7"/>
          <p:cNvSpPr>
            <a:spLocks noGrp="1"/>
          </p:cNvSpPr>
          <p:nvPr>
            <p:ph type="ftr" sz="quarter" idx="11"/>
          </p:nvPr>
        </p:nvSpPr>
        <p:spPr/>
        <p:txBody>
          <a:bodyPr/>
          <a:lstStyle/>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p:txBody>
      </p:sp>
      <p:sp>
        <p:nvSpPr>
          <p:cNvPr id="4" name="Footer Placeholder 3"/>
          <p:cNvSpPr>
            <a:spLocks noGrp="1"/>
          </p:cNvSpPr>
          <p:nvPr>
            <p:ph type="ftr" sz="quarter" idx="11"/>
          </p:nvPr>
        </p:nvSpPr>
        <p:spPr/>
        <p:txBody>
          <a:bodyPr/>
          <a:lstStyle/>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p:txBody>
      </p:sp>
      <p:sp>
        <p:nvSpPr>
          <p:cNvPr id="3" name="Footer Placeholder 2"/>
          <p:cNvSpPr>
            <a:spLocks noGrp="1"/>
          </p:cNvSpPr>
          <p:nvPr>
            <p:ph type="ftr" sz="quarter" idx="11"/>
          </p:nvPr>
        </p:nvSpPr>
        <p:spPr/>
        <p:txBody>
          <a:bodyPr/>
          <a:lstStyle/>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marL="0" lvl="0" indent="0" algn="r" rtl="0">
              <a:spcBef>
                <a:spcPts val="0"/>
              </a:spcBef>
              <a:spcAft>
                <a:spcPts val="0"/>
              </a:spcAft>
              <a:buNone/>
            </a:pPr>
            <a:fld id="{00000000-1234-1234-1234-123412341234}" type="slidenum">
              <a:rPr lang="en-IN"/>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b="58717"/>
          <a:stretch>
            <a:fillRect/>
          </a:stretch>
        </p:blipFill>
        <p:spPr>
          <a:xfrm>
            <a:off x="1185" y="-399862"/>
            <a:ext cx="12190815" cy="2763520"/>
          </a:xfrm>
          <a:prstGeom prst="rect">
            <a:avLst/>
          </a:prstGeom>
          <a:noFill/>
          <a:ln>
            <a:noFill/>
          </a:ln>
        </p:spPr>
      </p:pic>
      <p:sp>
        <p:nvSpPr>
          <p:cNvPr id="99" name="Google Shape;99;p1"/>
          <p:cNvSpPr txBox="1"/>
          <p:nvPr/>
        </p:nvSpPr>
        <p:spPr>
          <a:xfrm>
            <a:off x="2133264" y="1932808"/>
            <a:ext cx="8315553" cy="21824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en-IN" sz="4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sz="4400" b="1">
                <a:latin typeface="Times New Roman" panose="02020603050405020304" pitchFamily="18" charset="0"/>
                <a:cs typeface="Times New Roman" panose="02020603050405020304" pitchFamily="18" charset="0"/>
                <a:sym typeface="+mn-ea"/>
              </a:rPr>
              <a:t>Exploratory Data Analysis of</a:t>
            </a:r>
            <a:endParaRPr sz="4400" b="1">
              <a:latin typeface="Times New Roman" panose="02020603050405020304" pitchFamily="18" charset="0"/>
              <a:cs typeface="Times New Roman" panose="02020603050405020304" pitchFamily="18" charset="0"/>
              <a:sym typeface="+mn-ea"/>
            </a:endParaRPr>
          </a:p>
          <a:p>
            <a:pPr marL="0" marR="0" lvl="0" indent="0" algn="ctr" rtl="0">
              <a:spcBef>
                <a:spcPts val="0"/>
              </a:spcBef>
              <a:spcAft>
                <a:spcPts val="0"/>
              </a:spcAft>
              <a:buNone/>
            </a:pPr>
            <a:r>
              <a:rPr lang="en-IN" sz="4400" b="1">
                <a:latin typeface="Times New Roman" panose="02020603050405020304" pitchFamily="18" charset="0"/>
                <a:cs typeface="Times New Roman" panose="02020603050405020304" pitchFamily="18" charset="0"/>
                <a:sym typeface="+mn-ea"/>
              </a:rPr>
              <a:t>Cafe Sales</a:t>
            </a:r>
            <a:r>
              <a:rPr sz="4400" b="1">
                <a:latin typeface="Times New Roman" panose="02020603050405020304" pitchFamily="18" charset="0"/>
                <a:cs typeface="Times New Roman" panose="02020603050405020304" pitchFamily="18" charset="0"/>
                <a:sym typeface="+mn-ea"/>
              </a:rPr>
              <a:t> Dataset</a:t>
            </a:r>
            <a:endParaRPr sz="4400" b="1" dirty="0">
              <a:latin typeface="Times New Roman" panose="02020603050405020304" pitchFamily="18" charset="0"/>
              <a:cs typeface="Times New Roman" panose="02020603050405020304" pitchFamily="18" charset="0"/>
            </a:endParaRPr>
          </a:p>
        </p:txBody>
      </p:sp>
      <p:sp>
        <p:nvSpPr>
          <p:cNvPr id="8" name="Title 7"/>
          <p:cNvSpPr>
            <a:spLocks noGrp="1"/>
          </p:cNvSpPr>
          <p:nvPr>
            <p:ph type="title"/>
          </p:nvPr>
        </p:nvSpPr>
        <p:spPr>
          <a:xfrm>
            <a:off x="247015" y="5126990"/>
            <a:ext cx="5788660" cy="902335"/>
          </a:xfrm>
        </p:spPr>
        <p:txBody>
          <a:bodyPr>
            <a:normAutofit/>
          </a:bodyPr>
          <a:lstStyle/>
          <a:p>
            <a:r>
              <a:rPr lang="en-US" sz="2400" b="1" dirty="0">
                <a:latin typeface="Times New Roman" panose="02020603050405020304" pitchFamily="18" charset="0"/>
                <a:cs typeface="Times New Roman" panose="02020603050405020304" pitchFamily="18" charset="0"/>
              </a:rPr>
              <a:t>Presented By</a:t>
            </a:r>
            <a:r>
              <a:rPr lang="en-US" sz="2400" b="1" dirty="0" smtClean="0">
                <a:latin typeface="Times New Roman" panose="02020603050405020304" pitchFamily="18" charset="0"/>
                <a:cs typeface="Times New Roman" panose="02020603050405020304" pitchFamily="18" charset="0"/>
              </a:rPr>
              <a:t>:</a:t>
            </a:r>
            <a:r>
              <a:rPr lang="en-IN" altLang="en-US" sz="2400" b="1" dirty="0" smtClean="0">
                <a:latin typeface="Times New Roman" panose="02020603050405020304" pitchFamily="18" charset="0"/>
                <a:cs typeface="Times New Roman" panose="02020603050405020304" pitchFamily="18" charset="0"/>
              </a:rPr>
              <a:t> B. Nityala Sri Likitha</a:t>
            </a:r>
            <a:endParaRPr lang="en-IN"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54376" y="1494844"/>
            <a:ext cx="10847635" cy="828675"/>
          </a:xfrm>
          <a:prstGeom prst="rect">
            <a:avLst/>
          </a:prstGeom>
          <a:noFill/>
          <a:ln>
            <a:noFill/>
          </a:ln>
        </p:spPr>
        <p:txBody>
          <a:bodyPr spcFirstLastPara="1" wrap="square" lIns="91425" tIns="45700" rIns="91425" bIns="45700" anchor="t" anchorCtr="0">
            <a:spAutoFit/>
          </a:bodyPr>
          <a:lstStyle/>
          <a:p>
            <a:pPr lvl="0" algn="just">
              <a:buClr>
                <a:schemeClr val="dk1"/>
              </a:buClr>
              <a:buSzPts val="1800"/>
            </a:pPr>
            <a:r>
              <a:rPr lang="en-US" sz="2400" dirty="0">
                <a:latin typeface="Times New Roman" panose="02020603050405020304" pitchFamily="18" charset="0"/>
                <a:cs typeface="Times New Roman" panose="02020603050405020304" pitchFamily="18" charset="0"/>
              </a:rPr>
              <a:t>I am </a:t>
            </a:r>
            <a:r>
              <a:rPr lang="en-IN" altLang="en-US" sz="2400" dirty="0">
                <a:latin typeface="Constantia" panose="02030602050306030303" charset="0"/>
                <a:cs typeface="Constantia" panose="02030602050306030303" charset="0"/>
              </a:rPr>
              <a:t>Baipe Nityala Sri Likitha</a:t>
            </a:r>
            <a:r>
              <a:rPr lang="en-US" sz="2400" dirty="0">
                <a:latin typeface="Times New Roman" panose="02020603050405020304" pitchFamily="18" charset="0"/>
                <a:cs typeface="Times New Roman" panose="02020603050405020304" pitchFamily="18" charset="0"/>
              </a:rPr>
              <a:t>, a recent graduate with a </a:t>
            </a:r>
            <a:r>
              <a:rPr lang="en-IN" altLang="en-US" sz="2400" dirty="0">
                <a:latin typeface="Times New Roman" panose="02020603050405020304" pitchFamily="18" charset="0"/>
                <a:cs typeface="Times New Roman" panose="02020603050405020304" pitchFamily="18" charset="0"/>
              </a:rPr>
              <a:t>Masters of Computer Applications, </a:t>
            </a:r>
            <a:r>
              <a:rPr lang="en-US" sz="2400" dirty="0">
                <a:latin typeface="Times New Roman" panose="02020603050405020304" pitchFamily="18" charset="0"/>
                <a:cs typeface="Times New Roman" panose="02020603050405020304" pitchFamily="18" charset="0"/>
              </a:rPr>
              <a:t>specializing in </a:t>
            </a:r>
            <a:r>
              <a:rPr lang="en-IN" altLang="en-US" sz="2400" dirty="0">
                <a:latin typeface="Times New Roman" panose="02020603050405020304" pitchFamily="18" charset="0"/>
                <a:cs typeface="Times New Roman" panose="02020603050405020304" pitchFamily="18" charset="0"/>
              </a:rPr>
              <a:t>Computer</a:t>
            </a:r>
            <a:r>
              <a:rPr lang="en-US" sz="2400" dirty="0">
                <a:latin typeface="Times New Roman" panose="02020603050405020304" pitchFamily="18" charset="0"/>
                <a:cs typeface="Times New Roman" panose="02020603050405020304" pitchFamily="18" charset="0"/>
              </a:rPr>
              <a:t> Science, from </a:t>
            </a:r>
            <a:r>
              <a:rPr lang="en-IN" altLang="en-US" sz="2400" dirty="0">
                <a:latin typeface="Times New Roman" panose="02020603050405020304" pitchFamily="18" charset="0"/>
                <a:cs typeface="Times New Roman" panose="02020603050405020304" pitchFamily="18" charset="0"/>
              </a:rPr>
              <a:t>MIC College of Technology.</a:t>
            </a:r>
            <a:endParaRPr lang="en-IN" altLang="en-US" sz="2400" b="1"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panose="020F0502020204030204"/>
            </a:endParaRPr>
          </a:p>
        </p:txBody>
      </p:sp>
      <p:sp>
        <p:nvSpPr>
          <p:cNvPr id="105" name="Google Shape;105;p3"/>
          <p:cNvSpPr txBox="1"/>
          <p:nvPr/>
        </p:nvSpPr>
        <p:spPr>
          <a:xfrm>
            <a:off x="335188" y="416553"/>
            <a:ext cx="6099463" cy="58473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4000" b="1"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Lato Black" panose="020F0502020204030203"/>
              </a:rPr>
              <a:t>About me</a:t>
            </a:r>
            <a:endParaRPr sz="4000" b="1" i="0" u="none" strike="noStrike"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Calibri" panose="020F0502020204030204"/>
            </a:endParaRPr>
          </a:p>
        </p:txBody>
      </p:sp>
      <p:sp>
        <p:nvSpPr>
          <p:cNvPr id="5" name="TextBox 4"/>
          <p:cNvSpPr txBox="1"/>
          <p:nvPr/>
        </p:nvSpPr>
        <p:spPr>
          <a:xfrm>
            <a:off x="335188" y="2770112"/>
            <a:ext cx="5233405" cy="1323439"/>
          </a:xfrm>
          <a:prstGeom prst="rect">
            <a:avLst/>
          </a:prstGeom>
          <a:noFill/>
        </p:spPr>
        <p:txBody>
          <a:bodyPr wrap="square">
            <a:spAutoFit/>
          </a:bodyPr>
          <a:lstStyle/>
          <a:p>
            <a:r>
              <a:rPr lang="en-US" sz="4000" b="1" dirty="0">
                <a:latin typeface="Times New Roman" panose="02020603050405020304" pitchFamily="18" charset="0"/>
                <a:ea typeface="Calibri" panose="020F0502020204030204" pitchFamily="34" charset="0"/>
                <a:cs typeface="Times New Roman" panose="02020603050405020304" pitchFamily="18" charset="0"/>
              </a:rPr>
              <a:t>Why Data Science?</a:t>
            </a:r>
            <a:endParaRPr lang="en-US" sz="4000" b="1" dirty="0">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p:cNvSpPr txBox="1"/>
          <p:nvPr/>
        </p:nvSpPr>
        <p:spPr>
          <a:xfrm>
            <a:off x="754375" y="3791164"/>
            <a:ext cx="10434181" cy="193899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 I chose Data Science because it blends problem-solving, technology, and decision-making—three things I truly enjoy. I love working with data to find patterns and use them to solve real-world problems. It’s a field full of learning, innovation, and impact across industries.</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a:p>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491706"/>
            <a:ext cx="10515600" cy="713088"/>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IN" altLang="da-DK" sz="4000" b="1" dirty="0">
                <a:latin typeface="Times New Roman" panose="02020603050405020304" pitchFamily="18" charset="0"/>
                <a:cs typeface="Times New Roman" panose="02020603050405020304" pitchFamily="18" charset="0"/>
              </a:rPr>
              <a:t>Cafe Sales </a:t>
            </a:r>
            <a:r>
              <a:rPr lang="da-DK" sz="4000" b="1" dirty="0">
                <a:latin typeface="Times New Roman" panose="02020603050405020304" pitchFamily="18" charset="0"/>
                <a:cs typeface="Times New Roman" panose="02020603050405020304" pitchFamily="18" charset="0"/>
              </a:rPr>
              <a:t>Dataset Analysis</a:t>
            </a:r>
            <a:endParaRPr sz="4000" b="1" dirty="0">
              <a:solidFill>
                <a:srgbClr val="FF0000"/>
              </a:solidFill>
              <a:latin typeface="Times New Roman" panose="02020603050405020304" pitchFamily="18" charset="0"/>
              <a:cs typeface="Times New Roman" panose="02020603050405020304" pitchFamily="18" charset="0"/>
            </a:endParaRPr>
          </a:p>
        </p:txBody>
      </p:sp>
      <p:sp>
        <p:nvSpPr>
          <p:cNvPr id="2" name="Text Placeholder 1"/>
          <p:cNvSpPr/>
          <p:nvPr>
            <p:ph type="body" idx="1"/>
          </p:nvPr>
        </p:nvSpPr>
        <p:spPr>
          <a:xfrm>
            <a:off x="414020" y="1351915"/>
            <a:ext cx="10939780" cy="4825365"/>
          </a:xfrm>
        </p:spPr>
        <p:txBody>
          <a:bodyPr>
            <a:normAutofit lnSpcReduction="10000"/>
          </a:bodyPr>
          <a:p>
            <a:pPr algn="just"/>
            <a:r>
              <a:rPr lang="en-US" altLang="en-US" sz="2000">
                <a:latin typeface="Times New Roman" panose="02020603050405020304" pitchFamily="18" charset="0"/>
                <a:cs typeface="Times New Roman" panose="02020603050405020304" pitchFamily="18" charset="0"/>
              </a:rPr>
              <a:t>The dataset provides insights into </a:t>
            </a:r>
            <a:r>
              <a:rPr lang="en-US" altLang="en-US" sz="2000" b="1">
                <a:latin typeface="Times New Roman" panose="02020603050405020304" pitchFamily="18" charset="0"/>
                <a:cs typeface="Times New Roman" panose="02020603050405020304" pitchFamily="18" charset="0"/>
              </a:rPr>
              <a:t>customer behavior, product sales, and revenue trends</a:t>
            </a:r>
            <a:r>
              <a:rPr lang="en-US" altLang="en-US" sz="2000">
                <a:latin typeface="Times New Roman" panose="02020603050405020304" pitchFamily="18" charset="0"/>
                <a:cs typeface="Times New Roman" panose="02020603050405020304" pitchFamily="18" charset="0"/>
              </a:rPr>
              <a:t> in a café environment.</a:t>
            </a:r>
            <a:endParaRPr lang="en-US" altLang="en-US" sz="2000">
              <a:latin typeface="Times New Roman" panose="02020603050405020304" pitchFamily="18" charset="0"/>
              <a:cs typeface="Times New Roman" panose="02020603050405020304" pitchFamily="18" charset="0"/>
            </a:endParaRPr>
          </a:p>
          <a:p>
            <a:pPr algn="just"/>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It consists of </a:t>
            </a:r>
            <a:r>
              <a:rPr lang="en-US" altLang="en-US" sz="2000" b="1">
                <a:latin typeface="Times New Roman" panose="02020603050405020304" pitchFamily="18" charset="0"/>
                <a:cs typeface="Times New Roman" panose="02020603050405020304" pitchFamily="18" charset="0"/>
              </a:rPr>
              <a:t>12,000 records and 8 columns</a:t>
            </a:r>
            <a:r>
              <a:rPr lang="en-US" altLang="en-US" sz="2000">
                <a:latin typeface="Times New Roman" panose="02020603050405020304" pitchFamily="18" charset="0"/>
                <a:cs typeface="Times New Roman" panose="02020603050405020304" pitchFamily="18" charset="0"/>
              </a:rPr>
              <a:t>, including both numerical and categorical data.</a:t>
            </a:r>
            <a:endParaRPr lang="en-US" altLang="en-US" sz="2000">
              <a:latin typeface="Times New Roman" panose="02020603050405020304" pitchFamily="18" charset="0"/>
              <a:cs typeface="Times New Roman" panose="02020603050405020304" pitchFamily="18" charset="0"/>
            </a:endParaRPr>
          </a:p>
          <a:p>
            <a:pPr algn="just"/>
            <a:endParaRPr lang="en-US" altLang="en-US" sz="2000">
              <a:latin typeface="Times New Roman" panose="02020603050405020304" pitchFamily="18" charset="0"/>
              <a:cs typeface="Times New Roman" panose="02020603050405020304" pitchFamily="18" charset="0"/>
            </a:endParaRPr>
          </a:p>
          <a:p>
            <a:pPr algn="just"/>
            <a:r>
              <a:rPr lang="en-US" altLang="en-US" sz="2000" b="1">
                <a:latin typeface="Times New Roman" panose="02020603050405020304" pitchFamily="18" charset="0"/>
                <a:cs typeface="Times New Roman" panose="02020603050405020304" pitchFamily="18" charset="0"/>
              </a:rPr>
              <a:t>Numerical columns:</a:t>
            </a:r>
            <a:r>
              <a:rPr lang="en-US" altLang="en-US" sz="2000">
                <a:latin typeface="Times New Roman" panose="02020603050405020304" pitchFamily="18" charset="0"/>
                <a:cs typeface="Times New Roman" panose="02020603050405020304" pitchFamily="18" charset="0"/>
              </a:rPr>
              <a:t> Quantity, Unit Price, Total Bill, Profit</a:t>
            </a:r>
            <a:r>
              <a:rPr lang="en-IN" altLang="en-US" sz="2000">
                <a:latin typeface="Times New Roman" panose="02020603050405020304" pitchFamily="18" charset="0"/>
                <a:cs typeface="Times New Roman" panose="02020603050405020304" pitchFamily="18" charset="0"/>
              </a:rPr>
              <a:t>.</a:t>
            </a:r>
            <a:r>
              <a:rPr lang="en-US" altLang="en-US" sz="2000">
                <a:latin typeface="Times New Roman" panose="02020603050405020304" pitchFamily="18" charset="0"/>
                <a:cs typeface="Times New Roman" panose="02020603050405020304" pitchFamily="18" charset="0"/>
              </a:rPr>
              <a:t> </a:t>
            </a:r>
            <a:endParaRPr lang="en-US" altLang="en-US" sz="2000">
              <a:latin typeface="Times New Roman" panose="02020603050405020304" pitchFamily="18" charset="0"/>
              <a:cs typeface="Times New Roman" panose="02020603050405020304" pitchFamily="18" charset="0"/>
            </a:endParaRPr>
          </a:p>
          <a:p>
            <a:pPr algn="just"/>
            <a:endParaRPr lang="en-US" altLang="en-US" sz="2000">
              <a:latin typeface="Times New Roman" panose="02020603050405020304" pitchFamily="18" charset="0"/>
              <a:cs typeface="Times New Roman" panose="02020603050405020304" pitchFamily="18" charset="0"/>
            </a:endParaRPr>
          </a:p>
          <a:p>
            <a:pPr algn="just"/>
            <a:r>
              <a:rPr lang="en-US" altLang="en-US" sz="2000" b="1">
                <a:latin typeface="Times New Roman" panose="02020603050405020304" pitchFamily="18" charset="0"/>
                <a:cs typeface="Times New Roman" panose="02020603050405020304" pitchFamily="18" charset="0"/>
              </a:rPr>
              <a:t>Categorical columns: </a:t>
            </a:r>
            <a:r>
              <a:rPr lang="en-US" altLang="en-US" sz="2000">
                <a:latin typeface="Times New Roman" panose="02020603050405020304" pitchFamily="18" charset="0"/>
                <a:cs typeface="Times New Roman" panose="02020603050405020304" pitchFamily="18" charset="0"/>
              </a:rPr>
              <a:t>Date, Time, Product Category, Payment Method.</a:t>
            </a:r>
            <a:endParaRPr lang="en-US" altLang="en-US" sz="2000">
              <a:latin typeface="Times New Roman" panose="02020603050405020304" pitchFamily="18" charset="0"/>
              <a:cs typeface="Times New Roman" panose="02020603050405020304" pitchFamily="18" charset="0"/>
            </a:endParaRPr>
          </a:p>
          <a:p>
            <a:pPr algn="just"/>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Data </a:t>
            </a:r>
            <a:r>
              <a:rPr lang="en-US" altLang="en-US" sz="2000" b="1">
                <a:latin typeface="Times New Roman" panose="02020603050405020304" pitchFamily="18" charset="0"/>
                <a:cs typeface="Times New Roman" panose="02020603050405020304" pitchFamily="18" charset="0"/>
              </a:rPr>
              <a:t>is well-structured with no missing values</a:t>
            </a:r>
            <a:r>
              <a:rPr lang="en-US" altLang="en-US" sz="2000">
                <a:latin typeface="Times New Roman" panose="02020603050405020304" pitchFamily="18" charset="0"/>
                <a:cs typeface="Times New Roman" panose="02020603050405020304" pitchFamily="18" charset="0"/>
              </a:rPr>
              <a:t>, allowing accurate analysis of sales performance.</a:t>
            </a:r>
            <a:endParaRPr lang="en-US" altLang="en-US" sz="2000">
              <a:latin typeface="Times New Roman" panose="02020603050405020304" pitchFamily="18" charset="0"/>
              <a:cs typeface="Times New Roman" panose="02020603050405020304" pitchFamily="18" charset="0"/>
            </a:endParaRPr>
          </a:p>
          <a:p>
            <a:pPr algn="just"/>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The analysis helps identify</a:t>
            </a:r>
            <a:r>
              <a:rPr lang="en-US" altLang="en-US" sz="2000" b="1">
                <a:latin typeface="Times New Roman" panose="02020603050405020304" pitchFamily="18" charset="0"/>
                <a:cs typeface="Times New Roman" panose="02020603050405020304" pitchFamily="18" charset="0"/>
              </a:rPr>
              <a:t> top-selling products, peak hours, and preferred payment modes</a:t>
            </a:r>
            <a:r>
              <a:rPr lang="en-US" altLang="en-US" sz="2000">
                <a:latin typeface="Times New Roman" panose="02020603050405020304" pitchFamily="18" charset="0"/>
                <a:cs typeface="Times New Roman" panose="02020603050405020304" pitchFamily="18" charset="0"/>
              </a:rPr>
              <a:t> to support business decision-making.</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Placeholder 3"/>
          <p:cNvSpPr/>
          <p:nvPr>
            <p:ph type="body" idx="1"/>
          </p:nvPr>
        </p:nvSpPr>
        <p:spPr>
          <a:xfrm>
            <a:off x="838835" y="1652905"/>
            <a:ext cx="10514965" cy="4524375"/>
          </a:xfrm>
        </p:spPr>
        <p:txBody>
          <a:bodyPr>
            <a:normAutofit/>
          </a:bodyPr>
          <a:p>
            <a:r>
              <a:rPr lang="en-US" altLang="en-US" sz="2000" b="1">
                <a:latin typeface="Times New Roman" panose="02020603050405020304" pitchFamily="18" charset="0"/>
                <a:cs typeface="Times New Roman" panose="02020603050405020304" pitchFamily="18" charset="0"/>
              </a:rPr>
              <a:t>Transactional Data</a:t>
            </a:r>
            <a:r>
              <a:rPr lang="en-US" altLang="en-US" sz="2000">
                <a:latin typeface="Times New Roman" panose="02020603050405020304" pitchFamily="18" charset="0"/>
                <a:cs typeface="Times New Roman" panose="02020603050405020304" pitchFamily="18" charset="0"/>
              </a:rPr>
              <a:t>: Tracks daily café sales across time and date.</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Product Variety</a:t>
            </a:r>
            <a:r>
              <a:rPr lang="en-US" altLang="en-US" sz="2000">
                <a:latin typeface="Times New Roman" panose="02020603050405020304" pitchFamily="18" charset="0"/>
                <a:cs typeface="Times New Roman" panose="02020603050405020304" pitchFamily="18" charset="0"/>
              </a:rPr>
              <a:t>: Coffee, Bakery, Snacks, and Beverages categories.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Financial Metrics</a:t>
            </a:r>
            <a:r>
              <a:rPr lang="en-US" altLang="en-US" sz="2000">
                <a:latin typeface="Times New Roman" panose="02020603050405020304" pitchFamily="18" charset="0"/>
                <a:cs typeface="Times New Roman" panose="02020603050405020304" pitchFamily="18" charset="0"/>
              </a:rPr>
              <a:t>: Unit Price, Quantity, Total Bill, Profit.</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Payment Analysis</a:t>
            </a:r>
            <a:r>
              <a:rPr lang="en-US" altLang="en-US" sz="2000">
                <a:latin typeface="Times New Roman" panose="02020603050405020304" pitchFamily="18" charset="0"/>
                <a:cs typeface="Times New Roman" panose="02020603050405020304" pitchFamily="18" charset="0"/>
              </a:rPr>
              <a:t>: Cash, Card, and Digital methods compared.</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rPr>
              <a:t>Sales Insights</a:t>
            </a:r>
            <a:r>
              <a:rPr lang="en-US" altLang="en-US" sz="2000">
                <a:latin typeface="Times New Roman" panose="02020603050405020304" pitchFamily="18" charset="0"/>
                <a:cs typeface="Times New Roman" panose="02020603050405020304" pitchFamily="18" charset="0"/>
              </a:rPr>
              <a:t>: Reveals top products, peak hours, and trends.</a:t>
            </a:r>
            <a:endParaRPr lang="en-US" altLang="en-US" sz="2000">
              <a:latin typeface="Times New Roman" panose="02020603050405020304" pitchFamily="18" charset="0"/>
              <a:cs typeface="Times New Roman" panose="02020603050405020304" pitchFamily="18" charset="0"/>
            </a:endParaRPr>
          </a:p>
        </p:txBody>
      </p:sp>
      <p:sp>
        <p:nvSpPr>
          <p:cNvPr id="6" name="Text Box 5"/>
          <p:cNvSpPr txBox="1"/>
          <p:nvPr/>
        </p:nvSpPr>
        <p:spPr>
          <a:xfrm>
            <a:off x="472440" y="560070"/>
            <a:ext cx="5954395" cy="574040"/>
          </a:xfrm>
          <a:prstGeom prst="rect">
            <a:avLst/>
          </a:prstGeom>
          <a:noFill/>
        </p:spPr>
        <p:txBody>
          <a:bodyPr wrap="square" rtlCol="0">
            <a:noAutofit/>
          </a:bodyPr>
          <a:p>
            <a:r>
              <a:rPr lang="en-IN" altLang="en-US" sz="4000" b="1">
                <a:latin typeface="Times New Roman" panose="02020603050405020304" pitchFamily="18" charset="0"/>
                <a:cs typeface="Times New Roman" panose="02020603050405020304" pitchFamily="18" charset="0"/>
              </a:rPr>
              <a:t>Key Features</a:t>
            </a:r>
            <a:endParaRPr lang="en-IN" altLang="en-US" sz="4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6085" y="457200"/>
            <a:ext cx="7045960" cy="790575"/>
          </a:xfrm>
        </p:spPr>
        <p:txBody>
          <a:bodyPr>
            <a:normAutofit/>
          </a:bodyPr>
          <a:p>
            <a:r>
              <a:rPr lang="en-IN" altLang="en-US" sz="4000" b="1">
                <a:latin typeface="Times New Roman" panose="02020603050405020304" pitchFamily="18" charset="0"/>
                <a:cs typeface="Times New Roman" panose="02020603050405020304" pitchFamily="18" charset="0"/>
              </a:rPr>
              <a:t>Understanding the Column</a:t>
            </a:r>
            <a:endParaRPr lang="en-IN" altLang="en-US" sz="4000" b="1">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idx="1"/>
          </p:nvPr>
        </p:nvSpPr>
        <p:spPr>
          <a:xfrm>
            <a:off x="551180" y="3292475"/>
            <a:ext cx="3545840" cy="136525"/>
          </a:xfrm>
        </p:spPr>
        <p:txBody>
          <a:bodyPr>
            <a:normAutofit fontScale="25000"/>
          </a:bodyPr>
          <a:p>
            <a:endParaRPr lang="en-US"/>
          </a:p>
        </p:txBody>
      </p:sp>
      <p:pic>
        <p:nvPicPr>
          <p:cNvPr id="8" name="Picture Placeholder 7"/>
          <p:cNvPicPr>
            <a:picLocks noChangeAspect="1"/>
          </p:cNvPicPr>
          <p:nvPr>
            <p:ph type="pic" idx="2"/>
          </p:nvPr>
        </p:nvPicPr>
        <p:blipFill>
          <a:blip r:embed="rId1"/>
          <a:stretch>
            <a:fillRect/>
          </a:stretch>
        </p:blipFill>
        <p:spPr>
          <a:xfrm>
            <a:off x="550545" y="1470025"/>
            <a:ext cx="10795000" cy="449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6210" y="635"/>
            <a:ext cx="11506835" cy="612775"/>
          </a:xfrm>
          <a:prstGeom prst="rect">
            <a:avLst/>
          </a:prstGeom>
          <a:noFill/>
        </p:spPr>
        <p:txBody>
          <a:bodyPr wrap="square" rtlCol="0">
            <a:noAutofit/>
          </a:bodyPr>
          <a:lstStyle/>
          <a:p>
            <a:r>
              <a:rPr lang="en-IN"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21970" y="613410"/>
            <a:ext cx="11538585" cy="5856605"/>
          </a:xfrm>
          <a:prstGeom prst="rect">
            <a:avLst/>
          </a:prstGeom>
          <a:noFill/>
        </p:spPr>
        <p:txBody>
          <a:bodyPr wrap="square" rtlCol="0">
            <a:noAutofit/>
          </a:bodyPr>
          <a:lstStyle/>
          <a:p>
            <a:pPr marL="342900" indent="-342900" algn="jus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Problem:</a:t>
            </a:r>
            <a:r>
              <a:rPr lang="en-US" altLang="en-US" sz="1800" dirty="0">
                <a:latin typeface="Times New Roman" panose="02020603050405020304" pitchFamily="18" charset="0"/>
                <a:cs typeface="Times New Roman" panose="02020603050405020304" pitchFamily="18" charset="0"/>
              </a:rPr>
              <a:t> What are the key factors influencing sales performance in the café?</a:t>
            </a:r>
            <a:endParaRPr lang="en-US" altLang="en-US"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Goal:</a:t>
            </a:r>
            <a:r>
              <a:rPr lang="en-US" altLang="en-US" sz="1800" dirty="0">
                <a:latin typeface="Times New Roman" panose="02020603050405020304" pitchFamily="18" charset="0"/>
                <a:cs typeface="Times New Roman" panose="02020603050405020304" pitchFamily="18" charset="0"/>
              </a:rPr>
              <a:t> Identify how product category, time of day, and payment method impact total sales.</a:t>
            </a: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Problem:</a:t>
            </a:r>
            <a:r>
              <a:rPr lang="en-US" altLang="en-US" sz="1800" dirty="0">
                <a:latin typeface="Times New Roman" panose="02020603050405020304" pitchFamily="18" charset="0"/>
                <a:cs typeface="Times New Roman" panose="02020603050405020304" pitchFamily="18" charset="0"/>
              </a:rPr>
              <a:t> Which products contribute the most to total revenue?</a:t>
            </a:r>
            <a:endParaRPr lang="en-US" altLang="en-US"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Goal:</a:t>
            </a:r>
            <a:r>
              <a:rPr lang="en-US" altLang="en-US" sz="1800" dirty="0">
                <a:latin typeface="Times New Roman" panose="02020603050405020304" pitchFamily="18" charset="0"/>
                <a:cs typeface="Times New Roman" panose="02020603050405020304" pitchFamily="18" charset="0"/>
              </a:rPr>
              <a:t> Analyze sales data to find top-selling and least-performing items based on total bill amounts.</a:t>
            </a: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Problem:</a:t>
            </a:r>
            <a:r>
              <a:rPr lang="en-US" altLang="en-US" sz="1800" dirty="0">
                <a:latin typeface="Times New Roman" panose="02020603050405020304" pitchFamily="18" charset="0"/>
                <a:cs typeface="Times New Roman" panose="02020603050405020304" pitchFamily="18" charset="0"/>
              </a:rPr>
              <a:t> How do sales vary across different days and months?</a:t>
            </a:r>
            <a:endParaRPr lang="en-US" altLang="en-US"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Goal:</a:t>
            </a:r>
            <a:r>
              <a:rPr lang="en-US" altLang="en-US" sz="1800" dirty="0">
                <a:latin typeface="Times New Roman" panose="02020603050405020304" pitchFamily="18" charset="0"/>
                <a:cs typeface="Times New Roman" panose="02020603050405020304" pitchFamily="18" charset="0"/>
              </a:rPr>
              <a:t> Examine daily and monthly sales patterns to identify peak business periods.</a:t>
            </a: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Problem: </a:t>
            </a:r>
            <a:r>
              <a:rPr lang="en-US" altLang="en-US" sz="1800" dirty="0">
                <a:latin typeface="Times New Roman" panose="02020603050405020304" pitchFamily="18" charset="0"/>
                <a:cs typeface="Times New Roman" panose="02020603050405020304" pitchFamily="18" charset="0"/>
              </a:rPr>
              <a:t>What is the preferred payment method among customers?</a:t>
            </a:r>
            <a:endParaRPr lang="en-US" altLang="en-US"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Goal:</a:t>
            </a:r>
            <a:r>
              <a:rPr lang="en-US" altLang="en-US" sz="1800" dirty="0">
                <a:latin typeface="Times New Roman" panose="02020603050405020304" pitchFamily="18" charset="0"/>
                <a:cs typeface="Times New Roman" panose="02020603050405020304" pitchFamily="18" charset="0"/>
              </a:rPr>
              <a:t> Evaluate the proportion of cash, card, and online transactions to understand customer payment behavior.</a:t>
            </a: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Problem:</a:t>
            </a:r>
            <a:r>
              <a:rPr lang="en-US" altLang="en-US" sz="1800" dirty="0">
                <a:latin typeface="Times New Roman" panose="02020603050405020304" pitchFamily="18" charset="0"/>
                <a:cs typeface="Times New Roman" panose="02020603050405020304" pitchFamily="18" charset="0"/>
              </a:rPr>
              <a:t> Which time slots record the highest customer activity?</a:t>
            </a:r>
            <a:endParaRPr lang="en-US" altLang="en-US"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Goal:</a:t>
            </a:r>
            <a:r>
              <a:rPr lang="en-US" altLang="en-US" sz="1800" dirty="0">
                <a:latin typeface="Times New Roman" panose="02020603050405020304" pitchFamily="18" charset="0"/>
                <a:cs typeface="Times New Roman" panose="02020603050405020304" pitchFamily="18" charset="0"/>
              </a:rPr>
              <a:t> Analyze sales by hour to determine the busiest periods for staff scheduling and promotions.</a:t>
            </a: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Problem:</a:t>
            </a:r>
            <a:r>
              <a:rPr lang="en-US" altLang="en-US" sz="1800" dirty="0">
                <a:latin typeface="Times New Roman" panose="02020603050405020304" pitchFamily="18" charset="0"/>
                <a:cs typeface="Times New Roman" panose="02020603050405020304" pitchFamily="18" charset="0"/>
              </a:rPr>
              <a:t> How does the average bill amount differ between product categories?</a:t>
            </a:r>
            <a:endParaRPr lang="en-US" altLang="en-US"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Goal: </a:t>
            </a:r>
            <a:r>
              <a:rPr lang="en-US" altLang="en-US" sz="1800" dirty="0">
                <a:latin typeface="Times New Roman" panose="02020603050405020304" pitchFamily="18" charset="0"/>
                <a:cs typeface="Times New Roman" panose="02020603050405020304" pitchFamily="18" charset="0"/>
              </a:rPr>
              <a:t>Compare revenue contributions across beverages, bakery, and snacks to guide pricing and menu planning.</a:t>
            </a: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Problem: </a:t>
            </a:r>
            <a:r>
              <a:rPr lang="en-US" altLang="en-US" sz="1800" dirty="0">
                <a:latin typeface="Times New Roman" panose="02020603050405020304" pitchFamily="18" charset="0"/>
                <a:cs typeface="Times New Roman" panose="02020603050405020304" pitchFamily="18" charset="0"/>
              </a:rPr>
              <a:t>Are there seasonal trends affecting café sales?</a:t>
            </a:r>
            <a:endParaRPr lang="en-US" altLang="en-US"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Goal:</a:t>
            </a:r>
            <a:r>
              <a:rPr lang="en-US" altLang="en-US" sz="1800" dirty="0">
                <a:latin typeface="Times New Roman" panose="02020603050405020304" pitchFamily="18" charset="0"/>
                <a:cs typeface="Times New Roman" panose="02020603050405020304" pitchFamily="18" charset="0"/>
              </a:rPr>
              <a:t> Identify months or festive periods that show increased customer spending and plan inventory accordingly.</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38125" y="259715"/>
            <a:ext cx="11115675" cy="819150"/>
          </a:xfrm>
        </p:spPr>
        <p:txBody>
          <a:bodyPr/>
          <a:p>
            <a:r>
              <a:rPr lang="en-IN" altLang="en-US" sz="4000" b="1">
                <a:latin typeface="Times New Roman" panose="02020603050405020304" pitchFamily="18" charset="0"/>
                <a:cs typeface="Times New Roman" panose="02020603050405020304" pitchFamily="18" charset="0"/>
              </a:rPr>
              <a:t>Handling Missing Data</a:t>
            </a:r>
            <a:endParaRPr lang="en-IN" altLang="en-US" sz="4000" b="1">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a:xfrm>
            <a:off x="557530" y="1078230"/>
            <a:ext cx="10796270" cy="5099050"/>
          </a:xfrm>
        </p:spPr>
        <p:txBody>
          <a:bodyPr>
            <a:noAutofit/>
          </a:bodyPr>
          <a:p>
            <a:r>
              <a:rPr lang="en-US" altLang="en-US" sz="1700" b="1">
                <a:latin typeface="Times New Roman" panose="02020603050405020304" pitchFamily="18" charset="0"/>
                <a:cs typeface="Times New Roman" panose="02020603050405020304" pitchFamily="18" charset="0"/>
              </a:rPr>
              <a:t>Checked for Missing Values</a:t>
            </a:r>
            <a:r>
              <a:rPr lang="en-US" altLang="en-US" sz="1700">
                <a:latin typeface="Times New Roman" panose="02020603050405020304" pitchFamily="18" charset="0"/>
                <a:cs typeface="Times New Roman" panose="02020603050405020304" pitchFamily="18" charset="0"/>
              </a:rPr>
              <a:t> in all columns such as</a:t>
            </a:r>
            <a:r>
              <a:rPr lang="en-US" altLang="en-US" sz="1700" b="1">
                <a:latin typeface="Times New Roman" panose="02020603050405020304" pitchFamily="18" charset="0"/>
                <a:cs typeface="Times New Roman" panose="02020603050405020304" pitchFamily="18" charset="0"/>
              </a:rPr>
              <a:t> Date, Time, Product Name, Quantity, Unit Price, Total Bill, and Payment Method.</a:t>
            </a:r>
            <a:endParaRPr lang="en-US" altLang="en-US" sz="1700" b="1">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Techniques Used:</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a:latin typeface="Times New Roman" panose="02020603050405020304" pitchFamily="18" charset="0"/>
                <a:cs typeface="Times New Roman" panose="02020603050405020304" pitchFamily="18" charset="0"/>
              </a:rPr>
              <a:t>Used</a:t>
            </a:r>
            <a:r>
              <a:rPr lang="en-US" altLang="en-US" sz="1700" b="1">
                <a:latin typeface="Times New Roman" panose="02020603050405020304" pitchFamily="18" charset="0"/>
                <a:cs typeface="Times New Roman" panose="02020603050405020304" pitchFamily="18" charset="0"/>
              </a:rPr>
              <a:t> isnull() </a:t>
            </a:r>
            <a:r>
              <a:rPr lang="en-US" altLang="en-US" sz="1700">
                <a:latin typeface="Times New Roman" panose="02020603050405020304" pitchFamily="18" charset="0"/>
                <a:cs typeface="Times New Roman" panose="02020603050405020304" pitchFamily="18" charset="0"/>
              </a:rPr>
              <a:t>and </a:t>
            </a:r>
            <a:r>
              <a:rPr lang="en-US" altLang="en-US" sz="1700" b="1">
                <a:latin typeface="Times New Roman" panose="02020603050405020304" pitchFamily="18" charset="0"/>
                <a:cs typeface="Times New Roman" panose="02020603050405020304" pitchFamily="18" charset="0"/>
              </a:rPr>
              <a:t>sum()</a:t>
            </a:r>
            <a:r>
              <a:rPr lang="en-US" altLang="en-US" sz="1700">
                <a:latin typeface="Times New Roman" panose="02020603050405020304" pitchFamily="18" charset="0"/>
                <a:cs typeface="Times New Roman" panose="02020603050405020304" pitchFamily="18" charset="0"/>
              </a:rPr>
              <a:t> functions in Python to identify null or empty entries.</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a:latin typeface="Times New Roman" panose="02020603050405020304" pitchFamily="18" charset="0"/>
                <a:cs typeface="Times New Roman" panose="02020603050405020304" pitchFamily="18" charset="0"/>
              </a:rPr>
              <a:t>Applied</a:t>
            </a:r>
            <a:r>
              <a:rPr lang="en-US" altLang="en-US" sz="1700" b="1">
                <a:latin typeface="Times New Roman" panose="02020603050405020304" pitchFamily="18" charset="0"/>
                <a:cs typeface="Times New Roman" panose="02020603050405020304" pitchFamily="18" charset="0"/>
              </a:rPr>
              <a:t> visual checks </a:t>
            </a:r>
            <a:r>
              <a:rPr lang="en-US" altLang="en-US" sz="1700">
                <a:latin typeface="Times New Roman" panose="02020603050405020304" pitchFamily="18" charset="0"/>
                <a:cs typeface="Times New Roman" panose="02020603050405020304" pitchFamily="18" charset="0"/>
              </a:rPr>
              <a:t>using heatmaps to confirm missing data distribution.</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Findings</a:t>
            </a:r>
            <a:r>
              <a:rPr lang="en-US" altLang="en-US" sz="1700">
                <a:latin typeface="Times New Roman" panose="02020603050405020304" pitchFamily="18" charset="0"/>
                <a:cs typeface="Times New Roman" panose="02020603050405020304" pitchFamily="18" charset="0"/>
              </a:rPr>
              <a:t>: No missing values were detected — all fields contained</a:t>
            </a:r>
            <a:r>
              <a:rPr lang="en-US" altLang="en-US" sz="1700" b="1">
                <a:latin typeface="Times New Roman" panose="02020603050405020304" pitchFamily="18" charset="0"/>
                <a:cs typeface="Times New Roman" panose="02020603050405020304" pitchFamily="18" charset="0"/>
              </a:rPr>
              <a:t> complete and valid entries.</a:t>
            </a:r>
            <a:endParaRPr lang="en-US" altLang="en-US" sz="1700" b="1">
              <a:latin typeface="Times New Roman" panose="02020603050405020304" pitchFamily="18" charset="0"/>
              <a:cs typeface="Times New Roman" panose="02020603050405020304" pitchFamily="18" charset="0"/>
            </a:endParaRPr>
          </a:p>
          <a:p>
            <a:endParaRPr lang="en-US" altLang="en-US" sz="1700" b="1">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Why It Matters</a:t>
            </a:r>
            <a:r>
              <a:rPr lang="en-US" altLang="en-US" sz="1700">
                <a:latin typeface="Times New Roman" panose="02020603050405020304" pitchFamily="18" charset="0"/>
                <a:cs typeface="Times New Roman" panose="02020603050405020304" pitchFamily="18" charset="0"/>
              </a:rPr>
              <a:t>: Missing data can lead to</a:t>
            </a:r>
            <a:r>
              <a:rPr lang="en-US" altLang="en-US" sz="1700" b="1">
                <a:latin typeface="Times New Roman" panose="02020603050405020304" pitchFamily="18" charset="0"/>
                <a:cs typeface="Times New Roman" panose="02020603050405020304" pitchFamily="18" charset="0"/>
              </a:rPr>
              <a:t> inaccurate totals, wrong averages, and misleading insights i</a:t>
            </a:r>
            <a:r>
              <a:rPr lang="en-US" altLang="en-US" sz="1700">
                <a:latin typeface="Times New Roman" panose="02020603050405020304" pitchFamily="18" charset="0"/>
                <a:cs typeface="Times New Roman" panose="02020603050405020304" pitchFamily="18" charset="0"/>
              </a:rPr>
              <a:t>n sales analysis.</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Outcome:</a:t>
            </a:r>
            <a:r>
              <a:rPr lang="en-US" altLang="en-US" sz="1700">
                <a:latin typeface="Times New Roman" panose="02020603050405020304" pitchFamily="18" charset="0"/>
                <a:cs typeface="Times New Roman" panose="02020603050405020304" pitchFamily="18" charset="0"/>
              </a:rPr>
              <a:t> The dataset was </a:t>
            </a:r>
            <a:r>
              <a:rPr lang="en-US" altLang="en-US" sz="1700" b="1">
                <a:latin typeface="Times New Roman" panose="02020603050405020304" pitchFamily="18" charset="0"/>
                <a:cs typeface="Times New Roman" panose="02020603050405020304" pitchFamily="18" charset="0"/>
              </a:rPr>
              <a:t>fully clean and consistent,</a:t>
            </a:r>
            <a:r>
              <a:rPr lang="en-US" altLang="en-US" sz="1700">
                <a:latin typeface="Times New Roman" panose="02020603050405020304" pitchFamily="18" charset="0"/>
                <a:cs typeface="Times New Roman" panose="02020603050405020304" pitchFamily="18" charset="0"/>
              </a:rPr>
              <a:t> ensuring </a:t>
            </a:r>
            <a:r>
              <a:rPr lang="en-US" altLang="en-US" sz="1700" b="1">
                <a:latin typeface="Times New Roman" panose="02020603050405020304" pitchFamily="18" charset="0"/>
                <a:cs typeface="Times New Roman" panose="02020603050405020304" pitchFamily="18" charset="0"/>
              </a:rPr>
              <a:t>accurate results and trustworthy conclusions.</a:t>
            </a:r>
            <a:endParaRPr lang="en-US" altLang="en-US" sz="1700"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4810" y="365125"/>
            <a:ext cx="10968990" cy="651510"/>
          </a:xfrm>
        </p:spPr>
        <p:txBody>
          <a:bodyPr>
            <a:normAutofit fontScale="90000"/>
          </a:bodyPr>
          <a:p>
            <a:r>
              <a:rPr lang="en-IN" altLang="en-US" b="1">
                <a:latin typeface="Times New Roman" panose="02020603050405020304" pitchFamily="18" charset="0"/>
                <a:cs typeface="Times New Roman" panose="02020603050405020304" pitchFamily="18" charset="0"/>
              </a:rPr>
              <a:t>Handling Duplicates</a:t>
            </a:r>
            <a:endParaRPr lang="en-IN" altLang="en-US" b="1">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22630" y="1016635"/>
            <a:ext cx="10631170" cy="5160645"/>
          </a:xfrm>
        </p:spPr>
        <p:txBody>
          <a:bodyPr>
            <a:noAutofit/>
          </a:bodyPr>
          <a:p>
            <a:r>
              <a:rPr lang="en-US" altLang="en-US" sz="1700" b="1">
                <a:latin typeface="Times New Roman" panose="02020603050405020304" pitchFamily="18" charset="0"/>
                <a:cs typeface="Times New Roman" panose="02020603050405020304" pitchFamily="18" charset="0"/>
              </a:rPr>
              <a:t>Checked for Duplicate Records </a:t>
            </a:r>
            <a:r>
              <a:rPr lang="en-US" altLang="en-US" sz="1700">
                <a:latin typeface="Times New Roman" panose="02020603050405020304" pitchFamily="18" charset="0"/>
                <a:cs typeface="Times New Roman" panose="02020603050405020304" pitchFamily="18" charset="0"/>
              </a:rPr>
              <a:t>in all columns such as </a:t>
            </a:r>
            <a:r>
              <a:rPr lang="en-US" altLang="en-US" sz="1700" b="1">
                <a:latin typeface="Times New Roman" panose="02020603050405020304" pitchFamily="18" charset="0"/>
                <a:cs typeface="Times New Roman" panose="02020603050405020304" pitchFamily="18" charset="0"/>
              </a:rPr>
              <a:t>Date, Time, Product Name, Quantity, Total Bill, and Payment Method.</a:t>
            </a:r>
            <a:endParaRPr lang="en-US" altLang="en-US" sz="1700" b="1">
              <a:latin typeface="Times New Roman" panose="02020603050405020304" pitchFamily="18" charset="0"/>
              <a:cs typeface="Times New Roman" panose="02020603050405020304" pitchFamily="18" charset="0"/>
            </a:endParaRPr>
          </a:p>
          <a:p>
            <a:endParaRPr lang="en-US" altLang="en-US" sz="1700" b="1">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Techniques Used:</a:t>
            </a:r>
            <a:endParaRPr lang="en-US" altLang="en-US" sz="1700" b="1">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a:latin typeface="Times New Roman" panose="02020603050405020304" pitchFamily="18" charset="0"/>
                <a:cs typeface="Times New Roman" panose="02020603050405020304" pitchFamily="18" charset="0"/>
              </a:rPr>
              <a:t>Used </a:t>
            </a:r>
            <a:r>
              <a:rPr lang="en-US" altLang="en-US" sz="1700" b="1">
                <a:latin typeface="Times New Roman" panose="02020603050405020304" pitchFamily="18" charset="0"/>
                <a:cs typeface="Times New Roman" panose="02020603050405020304" pitchFamily="18" charset="0"/>
              </a:rPr>
              <a:t>duplicated(</a:t>
            </a:r>
            <a:r>
              <a:rPr lang="en-US" altLang="en-US" sz="1700">
                <a:latin typeface="Times New Roman" panose="02020603050405020304" pitchFamily="18" charset="0"/>
                <a:cs typeface="Times New Roman" panose="02020603050405020304" pitchFamily="18" charset="0"/>
              </a:rPr>
              <a:t>) function in Python to identify repeated rows.</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a:latin typeface="Times New Roman" panose="02020603050405020304" pitchFamily="18" charset="0"/>
                <a:cs typeface="Times New Roman" panose="02020603050405020304" pitchFamily="18" charset="0"/>
              </a:rPr>
              <a:t>Verified duplicate entries manually to confirm if they were </a:t>
            </a:r>
            <a:r>
              <a:rPr lang="en-US" altLang="en-US" sz="1700" b="1">
                <a:latin typeface="Times New Roman" panose="02020603050405020304" pitchFamily="18" charset="0"/>
                <a:cs typeface="Times New Roman" panose="02020603050405020304" pitchFamily="18" charset="0"/>
              </a:rPr>
              <a:t>valid repeat transactions</a:t>
            </a:r>
            <a:r>
              <a:rPr lang="en-US" altLang="en-US" sz="1700">
                <a:latin typeface="Times New Roman" panose="02020603050405020304" pitchFamily="18" charset="0"/>
                <a:cs typeface="Times New Roman" panose="02020603050405020304" pitchFamily="18" charset="0"/>
              </a:rPr>
              <a:t> (e.g., multiple identical orders).</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Findings:</a:t>
            </a:r>
            <a:r>
              <a:rPr lang="en-US" altLang="en-US" sz="1700">
                <a:latin typeface="Times New Roman" panose="02020603050405020304" pitchFamily="18" charset="0"/>
                <a:cs typeface="Times New Roman" panose="02020603050405020304" pitchFamily="18" charset="0"/>
              </a:rPr>
              <a:t> A few duplicate records were detected; only </a:t>
            </a:r>
            <a:r>
              <a:rPr lang="en-US" altLang="en-US" sz="1700" b="1">
                <a:latin typeface="Times New Roman" panose="02020603050405020304" pitchFamily="18" charset="0"/>
                <a:cs typeface="Times New Roman" panose="02020603050405020304" pitchFamily="18" charset="0"/>
              </a:rPr>
              <a:t>true duplicates</a:t>
            </a:r>
            <a:r>
              <a:rPr lang="en-US" altLang="en-US" sz="1700">
                <a:latin typeface="Times New Roman" panose="02020603050405020304" pitchFamily="18" charset="0"/>
                <a:cs typeface="Times New Roman" panose="02020603050405020304" pitchFamily="18" charset="0"/>
              </a:rPr>
              <a:t> (identical in all columns) were removed.</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Why It Matters:</a:t>
            </a:r>
            <a:r>
              <a:rPr lang="en-US" altLang="en-US" sz="1700">
                <a:latin typeface="Times New Roman" panose="02020603050405020304" pitchFamily="18" charset="0"/>
                <a:cs typeface="Times New Roman" panose="02020603050405020304" pitchFamily="18" charset="0"/>
              </a:rPr>
              <a:t> Duplicate data can </a:t>
            </a:r>
            <a:r>
              <a:rPr lang="en-US" altLang="en-US" sz="1700" b="1">
                <a:latin typeface="Times New Roman" panose="02020603050405020304" pitchFamily="18" charset="0"/>
                <a:cs typeface="Times New Roman" panose="02020603050405020304" pitchFamily="18" charset="0"/>
              </a:rPr>
              <a:t>inflate sales totals, distort analysis, and mislead performance trends.</a:t>
            </a:r>
            <a:endParaRPr lang="en-US" altLang="en-US" sz="1700" b="1">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Outcome:</a:t>
            </a:r>
            <a:r>
              <a:rPr lang="en-US" altLang="en-US" sz="1700">
                <a:latin typeface="Times New Roman" panose="02020603050405020304" pitchFamily="18" charset="0"/>
                <a:cs typeface="Times New Roman" panose="02020603050405020304" pitchFamily="18" charset="0"/>
              </a:rPr>
              <a:t> After removal, the dataset became </a:t>
            </a:r>
            <a:r>
              <a:rPr lang="en-US" altLang="en-US" sz="1700" b="1">
                <a:latin typeface="Times New Roman" panose="02020603050405020304" pitchFamily="18" charset="0"/>
                <a:cs typeface="Times New Roman" panose="02020603050405020304" pitchFamily="18" charset="0"/>
              </a:rPr>
              <a:t>clean, unique, and accurate, </a:t>
            </a:r>
            <a:r>
              <a:rPr lang="en-US" altLang="en-US" sz="1700">
                <a:latin typeface="Times New Roman" panose="02020603050405020304" pitchFamily="18" charset="0"/>
                <a:cs typeface="Times New Roman" panose="02020603050405020304" pitchFamily="18" charset="0"/>
              </a:rPr>
              <a:t>ensuring </a:t>
            </a:r>
            <a:r>
              <a:rPr lang="en-US" altLang="en-US" sz="1700" b="1">
                <a:latin typeface="Times New Roman" panose="02020603050405020304" pitchFamily="18" charset="0"/>
                <a:cs typeface="Times New Roman" panose="02020603050405020304" pitchFamily="18" charset="0"/>
              </a:rPr>
              <a:t>precise analysis and reporting</a:t>
            </a:r>
            <a:r>
              <a:rPr lang="en-US" altLang="en-US" sz="1700">
                <a:latin typeface="Times New Roman" panose="02020603050405020304" pitchFamily="18" charset="0"/>
                <a:cs typeface="Times New Roman" panose="02020603050405020304" pitchFamily="18" charset="0"/>
              </a:rPr>
              <a:t>.</a:t>
            </a:r>
            <a:endParaRPr lang="en-US" altLang="en-US" sz="17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47980" y="0"/>
            <a:ext cx="11005820" cy="1151890"/>
          </a:xfrm>
        </p:spPr>
        <p:txBody>
          <a:bodyPr/>
          <a:p>
            <a:r>
              <a:rPr lang="en-IN" altLang="en-US" sz="4000" b="1">
                <a:latin typeface="Times New Roman" panose="02020603050405020304" pitchFamily="18" charset="0"/>
                <a:cs typeface="Times New Roman" panose="02020603050405020304" pitchFamily="18" charset="0"/>
              </a:rPr>
              <a:t>Fixing Inconsistence of Data</a:t>
            </a:r>
            <a:endParaRPr lang="en-IN" altLang="en-US" sz="4000" b="1">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152525"/>
            <a:ext cx="10515600" cy="4974590"/>
          </a:xfrm>
        </p:spPr>
        <p:txBody>
          <a:bodyPr>
            <a:noAutofit/>
          </a:bodyPr>
          <a:p>
            <a:r>
              <a:rPr lang="en-US" altLang="en-US" sz="1600" b="1">
                <a:latin typeface="Times New Roman" panose="02020603050405020304" pitchFamily="18" charset="0"/>
                <a:cs typeface="Times New Roman" panose="02020603050405020304" pitchFamily="18" charset="0"/>
              </a:rPr>
              <a:t>Checked for Inconsistencies</a:t>
            </a:r>
            <a:r>
              <a:rPr lang="en-US" altLang="en-US" sz="1600">
                <a:latin typeface="Times New Roman" panose="02020603050405020304" pitchFamily="18" charset="0"/>
                <a:cs typeface="Times New Roman" panose="02020603050405020304" pitchFamily="18" charset="0"/>
              </a:rPr>
              <a:t> in categorical columns such as </a:t>
            </a:r>
            <a:r>
              <a:rPr lang="en-US" altLang="en-US" sz="1600" b="1">
                <a:latin typeface="Times New Roman" panose="02020603050405020304" pitchFamily="18" charset="0"/>
                <a:cs typeface="Times New Roman" panose="02020603050405020304" pitchFamily="18" charset="0"/>
              </a:rPr>
              <a:t>Product Category, Payment Method, and Product Name.</a:t>
            </a:r>
            <a:endParaRPr lang="en-US" altLang="en-US" sz="1600" b="1">
              <a:latin typeface="Times New Roman" panose="02020603050405020304" pitchFamily="18" charset="0"/>
              <a:cs typeface="Times New Roman" panose="02020603050405020304" pitchFamily="18" charset="0"/>
            </a:endParaRPr>
          </a:p>
          <a:p>
            <a:endParaRPr lang="en-US" altLang="en-US" sz="1600" b="1">
              <a:latin typeface="Times New Roman" panose="02020603050405020304" pitchFamily="18" charset="0"/>
              <a:cs typeface="Times New Roman" panose="02020603050405020304" pitchFamily="18" charset="0"/>
            </a:endParaRPr>
          </a:p>
          <a:p>
            <a:r>
              <a:rPr lang="en-US" altLang="en-US" sz="1600" b="1">
                <a:latin typeface="Times New Roman" panose="02020603050405020304" pitchFamily="18" charset="0"/>
                <a:cs typeface="Times New Roman" panose="02020603050405020304" pitchFamily="18" charset="0"/>
              </a:rPr>
              <a:t>Techniques Used:</a:t>
            </a:r>
            <a:endParaRPr lang="en-US" altLang="en-US" sz="1600" b="1">
              <a:latin typeface="Times New Roman" panose="02020603050405020304" pitchFamily="18" charset="0"/>
              <a:cs typeface="Times New Roman" panose="02020603050405020304" pitchFamily="18" charset="0"/>
            </a:endParaRPr>
          </a:p>
          <a:p>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Used </a:t>
            </a:r>
            <a:r>
              <a:rPr lang="en-US" altLang="en-US" sz="1600" b="1">
                <a:latin typeface="Times New Roman" panose="02020603050405020304" pitchFamily="18" charset="0"/>
                <a:cs typeface="Times New Roman" panose="02020603050405020304" pitchFamily="18" charset="0"/>
              </a:rPr>
              <a:t>value counts </a:t>
            </a:r>
            <a:r>
              <a:rPr lang="en-US" altLang="en-US" sz="1600">
                <a:latin typeface="Times New Roman" panose="02020603050405020304" pitchFamily="18" charset="0"/>
                <a:cs typeface="Times New Roman" panose="02020603050405020304" pitchFamily="18" charset="0"/>
              </a:rPr>
              <a:t>to identify inconsistent spellings or mixed cases (e.g., “coffee”, “Coffee”, “COFFEE”).</a:t>
            </a:r>
            <a:endParaRPr lang="en-US" altLang="en-US" sz="1600">
              <a:latin typeface="Times New Roman" panose="02020603050405020304" pitchFamily="18" charset="0"/>
              <a:cs typeface="Times New Roman" panose="02020603050405020304" pitchFamily="18" charset="0"/>
            </a:endParaRPr>
          </a:p>
          <a:p>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Standardized text using </a:t>
            </a:r>
            <a:r>
              <a:rPr lang="en-US" altLang="en-US" sz="1600" b="1">
                <a:latin typeface="Times New Roman" panose="02020603050405020304" pitchFamily="18" charset="0"/>
                <a:cs typeface="Times New Roman" panose="02020603050405020304" pitchFamily="18" charset="0"/>
              </a:rPr>
              <a:t>string formatting functions</a:t>
            </a:r>
            <a:r>
              <a:rPr lang="en-US" altLang="en-US" sz="1600">
                <a:latin typeface="Times New Roman" panose="02020603050405020304" pitchFamily="18" charset="0"/>
                <a:cs typeface="Times New Roman" panose="02020603050405020304" pitchFamily="18" charset="0"/>
              </a:rPr>
              <a:t> (str.lower(), strip(), and replacements).</a:t>
            </a:r>
            <a:endParaRPr lang="en-US" altLang="en-US" sz="1600">
              <a:latin typeface="Times New Roman" panose="02020603050405020304" pitchFamily="18" charset="0"/>
              <a:cs typeface="Times New Roman" panose="02020603050405020304" pitchFamily="18" charset="0"/>
            </a:endParaRPr>
          </a:p>
          <a:p>
            <a:endParaRPr lang="en-US" altLang="en-US" sz="1600">
              <a:latin typeface="Times New Roman" panose="02020603050405020304" pitchFamily="18" charset="0"/>
              <a:cs typeface="Times New Roman" panose="02020603050405020304" pitchFamily="18" charset="0"/>
            </a:endParaRPr>
          </a:p>
          <a:p>
            <a:r>
              <a:rPr lang="en-US" altLang="en-US" sz="1600" b="1">
                <a:latin typeface="Times New Roman" panose="02020603050405020304" pitchFamily="18" charset="0"/>
                <a:cs typeface="Times New Roman" panose="02020603050405020304" pitchFamily="18" charset="0"/>
              </a:rPr>
              <a:t>Findings:</a:t>
            </a:r>
            <a:r>
              <a:rPr lang="en-US" altLang="en-US" sz="1600">
                <a:latin typeface="Times New Roman" panose="02020603050405020304" pitchFamily="18" charset="0"/>
                <a:cs typeface="Times New Roman" panose="02020603050405020304" pitchFamily="18" charset="0"/>
              </a:rPr>
              <a:t> Minor inconsistencies were found in product names and categories; all were </a:t>
            </a:r>
            <a:r>
              <a:rPr lang="en-US" altLang="en-US" sz="1600" b="1">
                <a:latin typeface="Times New Roman" panose="02020603050405020304" pitchFamily="18" charset="0"/>
                <a:cs typeface="Times New Roman" panose="02020603050405020304" pitchFamily="18" charset="0"/>
              </a:rPr>
              <a:t>corrected for uniformity.</a:t>
            </a:r>
            <a:endParaRPr lang="en-US" altLang="en-US" sz="1600">
              <a:latin typeface="Times New Roman" panose="02020603050405020304" pitchFamily="18" charset="0"/>
              <a:cs typeface="Times New Roman" panose="02020603050405020304" pitchFamily="18" charset="0"/>
            </a:endParaRPr>
          </a:p>
          <a:p>
            <a:endParaRPr lang="en-US" altLang="en-US" sz="1600">
              <a:latin typeface="Times New Roman" panose="02020603050405020304" pitchFamily="18" charset="0"/>
              <a:cs typeface="Times New Roman" panose="02020603050405020304" pitchFamily="18" charset="0"/>
            </a:endParaRPr>
          </a:p>
          <a:p>
            <a:r>
              <a:rPr lang="en-US" altLang="en-US" sz="1600" b="1">
                <a:latin typeface="Times New Roman" panose="02020603050405020304" pitchFamily="18" charset="0"/>
                <a:cs typeface="Times New Roman" panose="02020603050405020304" pitchFamily="18" charset="0"/>
              </a:rPr>
              <a:t>Why It Matters: </a:t>
            </a:r>
            <a:r>
              <a:rPr lang="en-US" altLang="en-US" sz="1600">
                <a:latin typeface="Times New Roman" panose="02020603050405020304" pitchFamily="18" charset="0"/>
                <a:cs typeface="Times New Roman" panose="02020603050405020304" pitchFamily="18" charset="0"/>
              </a:rPr>
              <a:t>Inconsistent categorical values can </a:t>
            </a:r>
            <a:r>
              <a:rPr lang="en-US" altLang="en-US" sz="1600" b="1">
                <a:latin typeface="Times New Roman" panose="02020603050405020304" pitchFamily="18" charset="0"/>
                <a:cs typeface="Times New Roman" panose="02020603050405020304" pitchFamily="18" charset="0"/>
              </a:rPr>
              <a:t>split data into incorrect groups</a:t>
            </a:r>
            <a:r>
              <a:rPr lang="en-US" altLang="en-US" sz="1600">
                <a:latin typeface="Times New Roman" panose="02020603050405020304" pitchFamily="18" charset="0"/>
                <a:cs typeface="Times New Roman" panose="02020603050405020304" pitchFamily="18" charset="0"/>
              </a:rPr>
              <a:t> and affect visualization accuracy.</a:t>
            </a:r>
            <a:endParaRPr lang="en-US" altLang="en-US" sz="1600">
              <a:latin typeface="Times New Roman" panose="02020603050405020304" pitchFamily="18" charset="0"/>
              <a:cs typeface="Times New Roman" panose="02020603050405020304" pitchFamily="18" charset="0"/>
            </a:endParaRPr>
          </a:p>
          <a:p>
            <a:endParaRPr lang="en-US" altLang="en-US" sz="1600">
              <a:latin typeface="Times New Roman" panose="02020603050405020304" pitchFamily="18" charset="0"/>
              <a:cs typeface="Times New Roman" panose="02020603050405020304" pitchFamily="18" charset="0"/>
            </a:endParaRPr>
          </a:p>
          <a:p>
            <a:r>
              <a:rPr lang="en-US" altLang="en-US" sz="1600" b="1">
                <a:latin typeface="Times New Roman" panose="02020603050405020304" pitchFamily="18" charset="0"/>
                <a:cs typeface="Times New Roman" panose="02020603050405020304" pitchFamily="18" charset="0"/>
              </a:rPr>
              <a:t>Outcome: </a:t>
            </a:r>
            <a:r>
              <a:rPr lang="en-US" altLang="en-US" sz="1600">
                <a:latin typeface="Times New Roman" panose="02020603050405020304" pitchFamily="18" charset="0"/>
                <a:cs typeface="Times New Roman" panose="02020603050405020304" pitchFamily="18" charset="0"/>
              </a:rPr>
              <a:t>All categorical data were </a:t>
            </a:r>
            <a:r>
              <a:rPr lang="en-US" altLang="en-US" sz="1600" b="1">
                <a:latin typeface="Times New Roman" panose="02020603050405020304" pitchFamily="18" charset="0"/>
                <a:cs typeface="Times New Roman" panose="02020603050405020304" pitchFamily="18" charset="0"/>
              </a:rPr>
              <a:t>standardized and consistent,</a:t>
            </a:r>
            <a:r>
              <a:rPr lang="en-US" altLang="en-US" sz="1600">
                <a:latin typeface="Times New Roman" panose="02020603050405020304" pitchFamily="18" charset="0"/>
                <a:cs typeface="Times New Roman" panose="02020603050405020304" pitchFamily="18" charset="0"/>
              </a:rPr>
              <a:t> ensuring </a:t>
            </a:r>
            <a:r>
              <a:rPr lang="en-US" altLang="en-US" sz="1600" b="1">
                <a:latin typeface="Times New Roman" panose="02020603050405020304" pitchFamily="18" charset="0"/>
                <a:cs typeface="Times New Roman" panose="02020603050405020304" pitchFamily="18" charset="0"/>
              </a:rPr>
              <a:t>accurate grouping and reliable analysis.</a:t>
            </a:r>
            <a:endParaRPr lang="en-US" altLang="en-US" sz="16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07670" y="365125"/>
            <a:ext cx="10946130" cy="856615"/>
          </a:xfrm>
        </p:spPr>
        <p:txBody>
          <a:bodyPr/>
          <a:p>
            <a:r>
              <a:rPr lang="en-IN" altLang="en-US" sz="4000" b="1">
                <a:latin typeface="Times New Roman" panose="02020603050405020304" pitchFamily="18" charset="0"/>
                <a:cs typeface="Times New Roman" panose="02020603050405020304" pitchFamily="18" charset="0"/>
              </a:rPr>
              <a:t>Data Type conversion</a:t>
            </a:r>
            <a:endParaRPr lang="en-IN" altLang="en-US" sz="4000" b="1">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221105"/>
            <a:ext cx="10515600" cy="4993640"/>
          </a:xfrm>
        </p:spPr>
        <p:txBody>
          <a:bodyPr>
            <a:noAutofit/>
          </a:bodyPr>
          <a:p>
            <a:r>
              <a:rPr lang="en-US" altLang="en-US" sz="1700" b="1">
                <a:latin typeface="Times New Roman" panose="02020603050405020304" pitchFamily="18" charset="0"/>
                <a:cs typeface="Times New Roman" panose="02020603050405020304" pitchFamily="18" charset="0"/>
              </a:rPr>
              <a:t>Checked and Verified Data Types</a:t>
            </a:r>
            <a:r>
              <a:rPr lang="en-US" altLang="en-US" sz="1700">
                <a:latin typeface="Times New Roman" panose="02020603050405020304" pitchFamily="18" charset="0"/>
                <a:cs typeface="Times New Roman" panose="02020603050405020304" pitchFamily="18" charset="0"/>
              </a:rPr>
              <a:t> for all columns such as Date, Time, Quantity, Unit Price, and Total Bill.</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Techniques Used:</a:t>
            </a:r>
            <a:endParaRPr lang="en-US" altLang="en-US" sz="1700" b="1">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a:latin typeface="Times New Roman" panose="02020603050405020304" pitchFamily="18" charset="0"/>
                <a:cs typeface="Times New Roman" panose="02020603050405020304" pitchFamily="18" charset="0"/>
              </a:rPr>
              <a:t>Used</a:t>
            </a:r>
            <a:r>
              <a:rPr lang="en-US" altLang="en-US" sz="1700" b="1">
                <a:latin typeface="Times New Roman" panose="02020603050405020304" pitchFamily="18" charset="0"/>
                <a:cs typeface="Times New Roman" panose="02020603050405020304" pitchFamily="18" charset="0"/>
              </a:rPr>
              <a:t> info()</a:t>
            </a:r>
            <a:r>
              <a:rPr lang="en-US" altLang="en-US" sz="1700">
                <a:latin typeface="Times New Roman" panose="02020603050405020304" pitchFamily="18" charset="0"/>
                <a:cs typeface="Times New Roman" panose="02020603050405020304" pitchFamily="18" charset="0"/>
              </a:rPr>
              <a:t> function in Python to inspect current data types.</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a:latin typeface="Times New Roman" panose="02020603050405020304" pitchFamily="18" charset="0"/>
                <a:cs typeface="Times New Roman" panose="02020603050405020304" pitchFamily="18" charset="0"/>
              </a:rPr>
              <a:t>Converted</a:t>
            </a:r>
            <a:r>
              <a:rPr lang="en-US" altLang="en-US" sz="1700" b="1">
                <a:latin typeface="Times New Roman" panose="02020603050405020304" pitchFamily="18" charset="0"/>
                <a:cs typeface="Times New Roman" panose="02020603050405020304" pitchFamily="18" charset="0"/>
              </a:rPr>
              <a:t> Date and Time</a:t>
            </a:r>
            <a:r>
              <a:rPr lang="en-US" altLang="en-US" sz="1700">
                <a:latin typeface="Times New Roman" panose="02020603050405020304" pitchFamily="18" charset="0"/>
                <a:cs typeface="Times New Roman" panose="02020603050405020304" pitchFamily="18" charset="0"/>
              </a:rPr>
              <a:t> columns to datetime format and numerical columns (like Quantity, Price, and Total Bill) to appropriate numeric types (int or float).</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Findings</a:t>
            </a:r>
            <a:r>
              <a:rPr lang="en-US" altLang="en-US" sz="1700">
                <a:latin typeface="Times New Roman" panose="02020603050405020304" pitchFamily="18" charset="0"/>
                <a:cs typeface="Times New Roman" panose="02020603050405020304" pitchFamily="18" charset="0"/>
              </a:rPr>
              <a:t>: Some columns were stored as </a:t>
            </a:r>
            <a:r>
              <a:rPr lang="en-US" altLang="en-US" sz="1700" b="1">
                <a:latin typeface="Times New Roman" panose="02020603050405020304" pitchFamily="18" charset="0"/>
                <a:cs typeface="Times New Roman" panose="02020603050405020304" pitchFamily="18" charset="0"/>
              </a:rPr>
              <a:t>object/text</a:t>
            </a:r>
            <a:r>
              <a:rPr lang="en-US" altLang="en-US" sz="1700">
                <a:latin typeface="Times New Roman" panose="02020603050405020304" pitchFamily="18" charset="0"/>
                <a:cs typeface="Times New Roman" panose="02020603050405020304" pitchFamily="18" charset="0"/>
              </a:rPr>
              <a:t> instead of numeric or datetime; these were </a:t>
            </a:r>
            <a:r>
              <a:rPr lang="en-US" altLang="en-US" sz="1700" b="1">
                <a:latin typeface="Times New Roman" panose="02020603050405020304" pitchFamily="18" charset="0"/>
                <a:cs typeface="Times New Roman" panose="02020603050405020304" pitchFamily="18" charset="0"/>
              </a:rPr>
              <a:t>corrected for analysis accuracy</a:t>
            </a:r>
            <a:r>
              <a:rPr lang="en-US" altLang="en-US" sz="1700">
                <a:latin typeface="Times New Roman" panose="02020603050405020304" pitchFamily="18" charset="0"/>
                <a:cs typeface="Times New Roman" panose="02020603050405020304" pitchFamily="18" charset="0"/>
              </a:rPr>
              <a:t>.</a:t>
            </a:r>
            <a:endParaRPr lang="en-US" altLang="en-US" sz="1700">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Why It Matters:</a:t>
            </a:r>
            <a:r>
              <a:rPr lang="en-US" altLang="en-US" sz="1700">
                <a:latin typeface="Times New Roman" panose="02020603050405020304" pitchFamily="18" charset="0"/>
                <a:cs typeface="Times New Roman" panose="02020603050405020304" pitchFamily="18" charset="0"/>
              </a:rPr>
              <a:t> Incorrect data types can </a:t>
            </a:r>
            <a:r>
              <a:rPr lang="en-US" altLang="en-US" sz="1700" b="1">
                <a:latin typeface="Times New Roman" panose="02020603050405020304" pitchFamily="18" charset="0"/>
                <a:cs typeface="Times New Roman" panose="02020603050405020304" pitchFamily="18" charset="0"/>
              </a:rPr>
              <a:t>cause calculation errors, faulty aggregations, and plotting issues.</a:t>
            </a:r>
            <a:endParaRPr lang="en-US" altLang="en-US" sz="1700" b="1">
              <a:latin typeface="Times New Roman" panose="02020603050405020304" pitchFamily="18" charset="0"/>
              <a:cs typeface="Times New Roman" panose="02020603050405020304" pitchFamily="18" charset="0"/>
            </a:endParaRPr>
          </a:p>
          <a:p>
            <a:endParaRPr lang="en-US" altLang="en-US" sz="1700">
              <a:latin typeface="Times New Roman" panose="02020603050405020304" pitchFamily="18" charset="0"/>
              <a:cs typeface="Times New Roman" panose="02020603050405020304" pitchFamily="18" charset="0"/>
            </a:endParaRPr>
          </a:p>
          <a:p>
            <a:r>
              <a:rPr lang="en-US" altLang="en-US" sz="1700" b="1">
                <a:latin typeface="Times New Roman" panose="02020603050405020304" pitchFamily="18" charset="0"/>
                <a:cs typeface="Times New Roman" panose="02020603050405020304" pitchFamily="18" charset="0"/>
              </a:rPr>
              <a:t>Outcome:</a:t>
            </a:r>
            <a:r>
              <a:rPr lang="en-US" altLang="en-US" sz="1700">
                <a:latin typeface="Times New Roman" panose="02020603050405020304" pitchFamily="18" charset="0"/>
                <a:cs typeface="Times New Roman" panose="02020603050405020304" pitchFamily="18" charset="0"/>
              </a:rPr>
              <a:t> All columns were converted to </a:t>
            </a:r>
            <a:r>
              <a:rPr lang="en-US" altLang="en-US" sz="1700" b="1">
                <a:latin typeface="Times New Roman" panose="02020603050405020304" pitchFamily="18" charset="0"/>
                <a:cs typeface="Times New Roman" panose="02020603050405020304" pitchFamily="18" charset="0"/>
              </a:rPr>
              <a:t>accurate data types</a:t>
            </a:r>
            <a:r>
              <a:rPr lang="en-US" altLang="en-US" sz="1700">
                <a:latin typeface="Times New Roman" panose="02020603050405020304" pitchFamily="18" charset="0"/>
                <a:cs typeface="Times New Roman" panose="02020603050405020304" pitchFamily="18" charset="0"/>
              </a:rPr>
              <a:t>, ensuring</a:t>
            </a:r>
            <a:r>
              <a:rPr lang="en-US" altLang="en-US" sz="1700" b="1">
                <a:latin typeface="Times New Roman" panose="02020603050405020304" pitchFamily="18" charset="0"/>
                <a:cs typeface="Times New Roman" panose="02020603050405020304" pitchFamily="18" charset="0"/>
              </a:rPr>
              <a:t> smooth calculations and reliable visualizations.</a:t>
            </a:r>
            <a:endParaRPr lang="en-US" altLang="en-US" sz="17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4310" y="231775"/>
            <a:ext cx="4577715" cy="872490"/>
          </a:xfrm>
        </p:spPr>
        <p:txBody>
          <a:bodyPr>
            <a:normAutofit/>
          </a:bodyPr>
          <a:p>
            <a:r>
              <a:rPr lang="en-IN" altLang="en-US" sz="4000" b="1">
                <a:latin typeface="Times New Roman" panose="02020603050405020304" pitchFamily="18" charset="0"/>
                <a:cs typeface="Times New Roman" panose="02020603050405020304" pitchFamily="18" charset="0"/>
              </a:rPr>
              <a:t>Univariate Analysis</a:t>
            </a:r>
            <a:endParaRPr lang="en-IN" altLang="en-US" sz="4000" b="1">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80670" y="1363345"/>
            <a:ext cx="4154805" cy="4785360"/>
          </a:xfrm>
        </p:spPr>
        <p:txBody>
          <a:bodyPr/>
          <a:p>
            <a:pPr marL="514350" indent="-285750" algn="just">
              <a:buFont typeface="Arial" panose="020B0604020202020204" pitchFamily="34" charset="0"/>
              <a:buChar char="•"/>
            </a:pPr>
            <a:r>
              <a:rPr lang="en-IN"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Focused on individual features to understand their distribution and patterns</a:t>
            </a:r>
            <a:endParaRPr lang="en-US" altLang="en-US" sz="1800">
              <a:latin typeface="Times New Roman" panose="02020603050405020304" pitchFamily="18" charset="0"/>
              <a:cs typeface="Times New Roman" panose="02020603050405020304" pitchFamily="18" charset="0"/>
            </a:endParaRPr>
          </a:p>
          <a:p>
            <a:pPr marL="114300" indent="0" algn="just">
              <a:buNone/>
            </a:pPr>
            <a:r>
              <a:rPr lang="en-US" altLang="en-US" sz="2400" b="1">
                <a:latin typeface="Times New Roman" panose="02020603050405020304" pitchFamily="18" charset="0"/>
                <a:cs typeface="Times New Roman" panose="02020603050405020304" pitchFamily="18" charset="0"/>
              </a:rPr>
              <a:t>One numerical column</a:t>
            </a:r>
            <a:endParaRPr lang="en-US" altLang="en-US" sz="2400" b="1">
              <a:latin typeface="Times New Roman" panose="02020603050405020304" pitchFamily="18" charset="0"/>
              <a:cs typeface="Times New Roman" panose="02020603050405020304" pitchFamily="18" charset="0"/>
            </a:endParaRPr>
          </a:p>
          <a:p>
            <a:pPr marL="114300" indent="0" algn="just">
              <a:buNone/>
            </a:pPr>
            <a:r>
              <a:rPr lang="en-US" altLang="en-US" sz="1800" b="1">
                <a:latin typeface="Times New Roman" panose="02020603050405020304" pitchFamily="18" charset="0"/>
                <a:cs typeface="Times New Roman" panose="02020603050405020304" pitchFamily="18" charset="0"/>
              </a:rPr>
              <a:t>Numerical Features: </a:t>
            </a:r>
            <a:r>
              <a:rPr lang="en-US" altLang="en-US" sz="1800">
                <a:latin typeface="Times New Roman" panose="02020603050405020304" pitchFamily="18" charset="0"/>
                <a:cs typeface="Times New Roman" panose="02020603050405020304" pitchFamily="18" charset="0"/>
              </a:rPr>
              <a:t>Quantity, Unit Price, and Total Bill showed slightly right-skewed distributions.</a:t>
            </a:r>
            <a:endParaRPr lang="en-US" altLang="en-US" sz="1800">
              <a:latin typeface="Times New Roman" panose="02020603050405020304" pitchFamily="18" charset="0"/>
              <a:cs typeface="Times New Roman" panose="02020603050405020304" pitchFamily="18" charset="0"/>
            </a:endParaRPr>
          </a:p>
          <a:p>
            <a:pPr marL="114300" indent="0" algn="just">
              <a:buNone/>
            </a:pPr>
            <a:r>
              <a:rPr lang="en-US" altLang="en-US" sz="1800" b="1">
                <a:latin typeface="Times New Roman" panose="02020603050405020304" pitchFamily="18" charset="0"/>
                <a:cs typeface="Times New Roman" panose="02020603050405020304" pitchFamily="18" charset="0"/>
              </a:rPr>
              <a:t>Detected unrealistic values:</a:t>
            </a:r>
            <a:r>
              <a:rPr lang="en-US" altLang="en-US" sz="1800">
                <a:latin typeface="Times New Roman" panose="02020603050405020304" pitchFamily="18" charset="0"/>
                <a:cs typeface="Times New Roman" panose="02020603050405020304" pitchFamily="18" charset="0"/>
              </a:rPr>
              <a:t> Used</a:t>
            </a:r>
            <a:r>
              <a:rPr lang="en-IN"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Histograms, Boxplots, </a:t>
            </a:r>
            <a:r>
              <a:rPr lang="en-IN" altLang="en-US" sz="1800" b="1">
                <a:latin typeface="Times New Roman" panose="02020603050405020304" pitchFamily="18" charset="0"/>
                <a:cs typeface="Times New Roman" panose="02020603050405020304" pitchFamily="18" charset="0"/>
              </a:rPr>
              <a:t>violin and KDE plots</a:t>
            </a:r>
            <a:r>
              <a:rPr lang="en-US" altLang="en-US" sz="1800">
                <a:latin typeface="Times New Roman" panose="02020603050405020304" pitchFamily="18" charset="0"/>
                <a:cs typeface="Times New Roman" panose="02020603050405020304" pitchFamily="18" charset="0"/>
              </a:rPr>
              <a:t> to visualize spread</a:t>
            </a:r>
            <a:r>
              <a:rPr lang="en-IN" altLang="en-US" sz="1800">
                <a:latin typeface="Times New Roman" panose="02020603050405020304" pitchFamily="18" charset="0"/>
                <a:cs typeface="Times New Roman" panose="02020603050405020304" pitchFamily="18" charset="0"/>
              </a:rPr>
              <a:t> and outliers.</a:t>
            </a:r>
            <a:endParaRPr lang="en-IN" altLang="en-US" sz="1800">
              <a:latin typeface="Times New Roman" panose="02020603050405020304" pitchFamily="18" charset="0"/>
              <a:cs typeface="Times New Roman" panose="02020603050405020304" pitchFamily="18" charset="0"/>
            </a:endParaRPr>
          </a:p>
        </p:txBody>
      </p:sp>
      <p:pic>
        <p:nvPicPr>
          <p:cNvPr id="6" name="Picture Placeholder 5"/>
          <p:cNvPicPr>
            <a:picLocks noChangeAspect="1"/>
          </p:cNvPicPr>
          <p:nvPr>
            <p:ph type="pic" idx="2"/>
          </p:nvPr>
        </p:nvPicPr>
        <p:blipFill>
          <a:blip r:embed="rId1"/>
          <a:stretch>
            <a:fillRect/>
          </a:stretch>
        </p:blipFill>
        <p:spPr>
          <a:xfrm>
            <a:off x="4772025" y="644525"/>
            <a:ext cx="6583680" cy="5125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1305" y="457200"/>
            <a:ext cx="4490720" cy="1600200"/>
          </a:xfrm>
        </p:spPr>
        <p:txBody>
          <a:bodyPr/>
          <a:p>
            <a:r>
              <a:rPr lang="en-US" altLang="en-US" sz="4000" b="1">
                <a:latin typeface="Times New Roman" panose="02020603050405020304" pitchFamily="18" charset="0"/>
                <a:cs typeface="Times New Roman" panose="02020603050405020304" pitchFamily="18" charset="0"/>
              </a:rPr>
              <a:t>One Categorical column</a:t>
            </a:r>
            <a:endParaRPr lang="en-US" altLang="en-US" sz="4000" b="1">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617855" y="2057400"/>
            <a:ext cx="3970655" cy="3811905"/>
          </a:xfrm>
        </p:spPr>
        <p:txBody>
          <a:bodyPr/>
          <a:p>
            <a:r>
              <a:rPr lang="en-US" altLang="en-US" sz="1800" b="1">
                <a:latin typeface="Times New Roman" panose="02020603050405020304" pitchFamily="18" charset="0"/>
                <a:cs typeface="Times New Roman" panose="02020603050405020304" pitchFamily="18" charset="0"/>
              </a:rPr>
              <a:t>Categorical Features:</a:t>
            </a:r>
            <a:r>
              <a:rPr lang="en-US" altLang="en-US" sz="1800">
                <a:latin typeface="Times New Roman" panose="02020603050405020304" pitchFamily="18" charset="0"/>
                <a:cs typeface="Times New Roman" panose="02020603050405020304" pitchFamily="18" charset="0"/>
              </a:rPr>
              <a:t> </a:t>
            </a:r>
            <a:endParaRPr lang="en-US" altLang="en-US" sz="1800">
              <a:latin typeface="Times New Roman" panose="02020603050405020304" pitchFamily="18" charset="0"/>
              <a:cs typeface="Times New Roman" panose="02020603050405020304" pitchFamily="18" charset="0"/>
            </a:endParaRPr>
          </a:p>
          <a:p>
            <a:pPr algn="just"/>
            <a:r>
              <a:rPr lang="en-US" altLang="en-US" sz="1800">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IN" sz="1800">
                <a:latin typeface="Times New Roman" panose="02020603050405020304" pitchFamily="18" charset="0"/>
                <a:cs typeface="Times New Roman" panose="02020603050405020304" pitchFamily="18" charset="0"/>
              </a:rPr>
              <a:t>           </a:t>
            </a:r>
            <a:r>
              <a:rPr lang="en-IN"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Product Category, Payment Method, and Time of Day revealed uneven frequency patterns — Coffee and UPI payments dominated.</a:t>
            </a:r>
            <a:endParaRPr lang="en-US" altLang="en-US" sz="1800">
              <a:latin typeface="Times New Roman" panose="02020603050405020304" pitchFamily="18" charset="0"/>
              <a:cs typeface="Times New Roman" panose="02020603050405020304" pitchFamily="18" charset="0"/>
            </a:endParaRPr>
          </a:p>
        </p:txBody>
      </p:sp>
      <p:sp>
        <p:nvSpPr>
          <p:cNvPr id="6" name="Text Box 5"/>
          <p:cNvSpPr txBox="1"/>
          <p:nvPr/>
        </p:nvSpPr>
        <p:spPr>
          <a:xfrm>
            <a:off x="8434070" y="1156970"/>
            <a:ext cx="3317240" cy="1957705"/>
          </a:xfrm>
          <a:prstGeom prst="rect">
            <a:avLst/>
          </a:prstGeom>
          <a:noFill/>
        </p:spPr>
        <p:txBody>
          <a:bodyPr wrap="square" rtlCol="0">
            <a:noAutofit/>
          </a:bodyPr>
          <a:p>
            <a:endParaRPr lang="en-US"/>
          </a:p>
        </p:txBody>
      </p:sp>
      <p:sp>
        <p:nvSpPr>
          <p:cNvPr id="8" name="Text Box 7"/>
          <p:cNvSpPr txBox="1"/>
          <p:nvPr/>
        </p:nvSpPr>
        <p:spPr>
          <a:xfrm>
            <a:off x="4706620" y="3674745"/>
            <a:ext cx="7333615" cy="2312035"/>
          </a:xfrm>
          <a:prstGeom prst="rect">
            <a:avLst/>
          </a:prstGeom>
          <a:noFill/>
        </p:spPr>
        <p:txBody>
          <a:bodyPr wrap="square" rtlCol="0">
            <a:noAutofit/>
          </a:bodyPr>
          <a:p>
            <a:endParaRPr lang="en-US"/>
          </a:p>
        </p:txBody>
      </p:sp>
      <p:pic>
        <p:nvPicPr>
          <p:cNvPr id="17" name="Picture Placeholder 16"/>
          <p:cNvPicPr>
            <a:picLocks noChangeAspect="1"/>
          </p:cNvPicPr>
          <p:nvPr>
            <p:ph type="pic" idx="2"/>
          </p:nvPr>
        </p:nvPicPr>
        <p:blipFill>
          <a:blip r:embed="rId1"/>
          <a:stretch>
            <a:fillRect/>
          </a:stretch>
        </p:blipFill>
        <p:spPr>
          <a:xfrm>
            <a:off x="4772025" y="1005205"/>
            <a:ext cx="3787140" cy="2423160"/>
          </a:xfrm>
          <a:prstGeom prst="rect">
            <a:avLst/>
          </a:prstGeom>
        </p:spPr>
      </p:pic>
      <p:pic>
        <p:nvPicPr>
          <p:cNvPr id="18" name="Picture 17"/>
          <p:cNvPicPr>
            <a:picLocks noChangeAspect="1"/>
          </p:cNvPicPr>
          <p:nvPr/>
        </p:nvPicPr>
        <p:blipFill>
          <a:blip r:embed="rId2"/>
          <a:stretch>
            <a:fillRect/>
          </a:stretch>
        </p:blipFill>
        <p:spPr>
          <a:xfrm>
            <a:off x="8239760" y="1156970"/>
            <a:ext cx="3800475" cy="2109470"/>
          </a:xfrm>
          <a:prstGeom prst="rect">
            <a:avLst/>
          </a:prstGeom>
        </p:spPr>
      </p:pic>
      <p:pic>
        <p:nvPicPr>
          <p:cNvPr id="19" name="Picture 18"/>
          <p:cNvPicPr>
            <a:picLocks noChangeAspect="1"/>
          </p:cNvPicPr>
          <p:nvPr/>
        </p:nvPicPr>
        <p:blipFill>
          <a:blip r:embed="rId3"/>
          <a:stretch>
            <a:fillRect/>
          </a:stretch>
        </p:blipFill>
        <p:spPr>
          <a:xfrm>
            <a:off x="4907915" y="3428365"/>
            <a:ext cx="6967855" cy="28098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2885" y="457200"/>
            <a:ext cx="4549140" cy="1099185"/>
          </a:xfrm>
        </p:spPr>
        <p:txBody>
          <a:bodyPr>
            <a:noAutofit/>
          </a:bodyPr>
          <a:p>
            <a:r>
              <a:rPr lang="en-US" altLang="en-US" sz="4000" b="1">
                <a:latin typeface="Times New Roman" panose="02020603050405020304" pitchFamily="18" charset="0"/>
                <a:cs typeface="Times New Roman" panose="02020603050405020304" pitchFamily="18" charset="0"/>
              </a:rPr>
              <a:t>Bivariate Analysis</a:t>
            </a:r>
            <a:br>
              <a:rPr lang="en-US" altLang="en-US" sz="4000" b="1">
                <a:latin typeface="Times New Roman" panose="02020603050405020304" pitchFamily="18" charset="0"/>
                <a:cs typeface="Times New Roman" panose="02020603050405020304" pitchFamily="18" charset="0"/>
              </a:rPr>
            </a:br>
            <a:endParaRPr lang="en-US" altLang="en-US" sz="4000" b="1">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319405" y="1296035"/>
            <a:ext cx="4452620" cy="4573270"/>
          </a:xfrm>
        </p:spPr>
        <p:txBody>
          <a:bodyPr>
            <a:noAutofit/>
          </a:bodyPr>
          <a:p>
            <a:pPr marL="514350" indent="-285750" algn="just">
              <a:buFont typeface="Arial" panose="020B0604020202020204" pitchFamily="34" charset="0"/>
              <a:buChar char="•"/>
            </a:pPr>
            <a:r>
              <a:rPr lang="en-US" altLang="en-US" sz="1700">
                <a:latin typeface="Times New Roman" panose="02020603050405020304" pitchFamily="18" charset="0"/>
                <a:cs typeface="Times New Roman" panose="02020603050405020304" pitchFamily="18" charset="0"/>
                <a:sym typeface="+mn-ea"/>
              </a:rPr>
              <a:t> Focused on the relationship between two variables to detect patterns and dependencies..</a:t>
            </a:r>
            <a:endParaRPr lang="en-US" altLang="en-US" sz="1700">
              <a:latin typeface="Times New Roman" panose="02020603050405020304" pitchFamily="18" charset="0"/>
              <a:cs typeface="Times New Roman" panose="02020603050405020304" pitchFamily="18" charset="0"/>
              <a:sym typeface="+mn-ea"/>
            </a:endParaRPr>
          </a:p>
          <a:p>
            <a:pPr marL="228600" indent="0" algn="just">
              <a:buFont typeface="Arial" panose="020B0604020202020204" pitchFamily="34" charset="0"/>
            </a:pPr>
            <a:r>
              <a:rPr lang="en-US" altLang="en-US" sz="1700" b="1">
                <a:latin typeface="Times New Roman" panose="02020603050405020304" pitchFamily="18" charset="0"/>
                <a:cs typeface="Times New Roman" panose="02020603050405020304" pitchFamily="18" charset="0"/>
              </a:rPr>
              <a:t>Two numerical column</a:t>
            </a:r>
            <a:endParaRPr lang="en-US" altLang="en-US" sz="1700" b="1">
              <a:latin typeface="Times New Roman" panose="02020603050405020304" pitchFamily="18" charset="0"/>
              <a:cs typeface="Times New Roman" panose="02020603050405020304" pitchFamily="18" charset="0"/>
            </a:endParaRPr>
          </a:p>
          <a:p>
            <a:pPr marL="228600" indent="0" algn="just">
              <a:buFont typeface="Arial" panose="020B0604020202020204" pitchFamily="34" charset="0"/>
            </a:pPr>
            <a:r>
              <a:rPr lang="en-US" altLang="en-US" sz="1700">
                <a:latin typeface="Times New Roman" panose="02020603050405020304" pitchFamily="18" charset="0"/>
                <a:cs typeface="Times New Roman" panose="02020603050405020304" pitchFamily="18" charset="0"/>
              </a:rPr>
              <a:t>Explored combinations such as Quantity vs Total Spent, and Price Per Unit vs Total Spent to identify sales trends.</a:t>
            </a:r>
            <a:endParaRPr lang="en-US" altLang="en-US" sz="1700">
              <a:latin typeface="Times New Roman" panose="02020603050405020304" pitchFamily="18" charset="0"/>
              <a:cs typeface="Times New Roman" panose="02020603050405020304" pitchFamily="18" charset="0"/>
            </a:endParaRPr>
          </a:p>
          <a:p>
            <a:pPr marL="228600" indent="0" algn="just">
              <a:buFont typeface="Arial" panose="020B0604020202020204" pitchFamily="34" charset="0"/>
            </a:pPr>
            <a:endParaRPr lang="en-US" altLang="en-US" sz="1700">
              <a:latin typeface="Times New Roman" panose="02020603050405020304" pitchFamily="18" charset="0"/>
              <a:cs typeface="Times New Roman" panose="02020603050405020304" pitchFamily="18" charset="0"/>
            </a:endParaRPr>
          </a:p>
          <a:p>
            <a:pPr marL="228600" indent="0" algn="just">
              <a:buFont typeface="Arial" panose="020B0604020202020204" pitchFamily="34" charset="0"/>
            </a:pPr>
            <a:r>
              <a:rPr lang="en-US" altLang="en-US" sz="1700" b="1">
                <a:latin typeface="Times New Roman" panose="02020603050405020304" pitchFamily="18" charset="0"/>
                <a:cs typeface="Times New Roman" panose="02020603050405020304" pitchFamily="18" charset="0"/>
              </a:rPr>
              <a:t>Techniques Used</a:t>
            </a:r>
            <a:r>
              <a:rPr lang="en-US" altLang="en-US" sz="1700">
                <a:latin typeface="Times New Roman" panose="02020603050405020304" pitchFamily="18" charset="0"/>
                <a:cs typeface="Times New Roman" panose="02020603050405020304" pitchFamily="18" charset="0"/>
              </a:rPr>
              <a:t>: </a:t>
            </a:r>
            <a:endParaRPr lang="en-US" altLang="en-US" sz="1700">
              <a:latin typeface="Times New Roman" panose="02020603050405020304" pitchFamily="18" charset="0"/>
              <a:cs typeface="Times New Roman" panose="02020603050405020304" pitchFamily="18" charset="0"/>
            </a:endParaRPr>
          </a:p>
          <a:p>
            <a:pPr marL="228600" indent="0" algn="just">
              <a:buFont typeface="Arial" panose="020B0604020202020204" pitchFamily="34" charset="0"/>
            </a:pPr>
            <a:r>
              <a:rPr lang="en-US" altLang="en-US" sz="1700">
                <a:latin typeface="Times New Roman" panose="02020603050405020304" pitchFamily="18" charset="0"/>
                <a:cs typeface="Times New Roman" panose="02020603050405020304" pitchFamily="18" charset="0"/>
              </a:rPr>
              <a:t>Utilized Scatter Plots, Joint Plots, and </a:t>
            </a:r>
            <a:r>
              <a:rPr lang="en-IN" altLang="en-US" sz="1700">
                <a:latin typeface="Times New Roman" panose="02020603050405020304" pitchFamily="18" charset="0"/>
                <a:cs typeface="Times New Roman" panose="02020603050405020304" pitchFamily="18" charset="0"/>
              </a:rPr>
              <a:t>Heat Map</a:t>
            </a:r>
            <a:r>
              <a:rPr lang="en-US" altLang="en-US" sz="1700">
                <a:latin typeface="Times New Roman" panose="02020603050405020304" pitchFamily="18" charset="0"/>
                <a:cs typeface="Times New Roman" panose="02020603050405020304" pitchFamily="18" charset="0"/>
              </a:rPr>
              <a:t> to visualize correlations between key sales metrics.</a:t>
            </a:r>
            <a:endParaRPr lang="en-US" altLang="en-US" sz="1700">
              <a:latin typeface="Times New Roman" panose="02020603050405020304" pitchFamily="18" charset="0"/>
              <a:cs typeface="Times New Roman" panose="02020603050405020304" pitchFamily="18" charset="0"/>
            </a:endParaRPr>
          </a:p>
          <a:p>
            <a:pPr marL="228600" indent="0" algn="just">
              <a:buFont typeface="Arial" panose="020B0604020202020204" pitchFamily="34" charset="0"/>
            </a:pPr>
            <a:endParaRPr lang="en-US" altLang="en-US" sz="1700">
              <a:latin typeface="Times New Roman" panose="02020603050405020304" pitchFamily="18" charset="0"/>
              <a:cs typeface="Times New Roman" panose="02020603050405020304" pitchFamily="18" charset="0"/>
            </a:endParaRPr>
          </a:p>
          <a:p>
            <a:pPr marL="228600" indent="0" algn="just">
              <a:buFont typeface="Arial" panose="020B0604020202020204" pitchFamily="34" charset="0"/>
            </a:pPr>
            <a:r>
              <a:rPr lang="en-US" altLang="en-US" sz="1700" b="1">
                <a:latin typeface="Times New Roman" panose="02020603050405020304" pitchFamily="18" charset="0"/>
                <a:cs typeface="Times New Roman" panose="02020603050405020304" pitchFamily="18" charset="0"/>
              </a:rPr>
              <a:t>Findings:</a:t>
            </a:r>
            <a:endParaRPr lang="en-US" altLang="en-US" sz="1700" b="1">
              <a:latin typeface="Times New Roman" panose="02020603050405020304" pitchFamily="18" charset="0"/>
              <a:cs typeface="Times New Roman" panose="02020603050405020304" pitchFamily="18" charset="0"/>
            </a:endParaRPr>
          </a:p>
          <a:p>
            <a:pPr marL="228600" indent="0" algn="just">
              <a:buFont typeface="Arial" panose="020B0604020202020204" pitchFamily="34" charset="0"/>
            </a:pPr>
            <a:r>
              <a:rPr lang="en-US" altLang="en-US" sz="1700">
                <a:latin typeface="Times New Roman" panose="02020603050405020304" pitchFamily="18" charset="0"/>
                <a:cs typeface="Times New Roman" panose="02020603050405020304" pitchFamily="18" charset="0"/>
              </a:rPr>
              <a:t> Positive correlation observed — higher Quantity and Price Per Unit generally resulted in greater Total Spent.</a:t>
            </a:r>
            <a:endParaRPr lang="en-US" altLang="en-US" sz="1700">
              <a:latin typeface="Times New Roman" panose="02020603050405020304" pitchFamily="18" charset="0"/>
              <a:cs typeface="Times New Roman" panose="02020603050405020304" pitchFamily="18" charset="0"/>
            </a:endParaRPr>
          </a:p>
        </p:txBody>
      </p:sp>
      <p:pic>
        <p:nvPicPr>
          <p:cNvPr id="12" name="Picture Placeholder 11"/>
          <p:cNvPicPr>
            <a:picLocks noChangeAspect="1"/>
          </p:cNvPicPr>
          <p:nvPr>
            <p:ph type="pic" idx="2"/>
          </p:nvPr>
        </p:nvPicPr>
        <p:blipFill>
          <a:blip r:embed="rId1"/>
          <a:stretch>
            <a:fillRect/>
          </a:stretch>
        </p:blipFill>
        <p:spPr>
          <a:xfrm>
            <a:off x="4873625" y="582930"/>
            <a:ext cx="3831590" cy="2452370"/>
          </a:xfrm>
          <a:prstGeom prst="rect">
            <a:avLst/>
          </a:prstGeom>
        </p:spPr>
      </p:pic>
      <p:pic>
        <p:nvPicPr>
          <p:cNvPr id="13" name="Picture 12"/>
          <p:cNvPicPr>
            <a:picLocks noChangeAspect="1"/>
          </p:cNvPicPr>
          <p:nvPr/>
        </p:nvPicPr>
        <p:blipFill>
          <a:blip r:embed="rId2"/>
          <a:stretch>
            <a:fillRect/>
          </a:stretch>
        </p:blipFill>
        <p:spPr>
          <a:xfrm>
            <a:off x="8397875" y="456565"/>
            <a:ext cx="3794125" cy="2578735"/>
          </a:xfrm>
          <a:prstGeom prst="rect">
            <a:avLst/>
          </a:prstGeom>
        </p:spPr>
      </p:pic>
      <p:pic>
        <p:nvPicPr>
          <p:cNvPr id="14" name="Picture 13"/>
          <p:cNvPicPr>
            <a:picLocks noChangeAspect="1"/>
          </p:cNvPicPr>
          <p:nvPr/>
        </p:nvPicPr>
        <p:blipFill>
          <a:blip r:embed="rId3"/>
          <a:stretch>
            <a:fillRect/>
          </a:stretch>
        </p:blipFill>
        <p:spPr>
          <a:xfrm>
            <a:off x="5805170" y="3131820"/>
            <a:ext cx="5327015" cy="2961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9875" y="226060"/>
            <a:ext cx="3855720" cy="991870"/>
          </a:xfrm>
        </p:spPr>
        <p:txBody>
          <a:bodyPr>
            <a:normAutofit fontScale="90000"/>
          </a:bodyPr>
          <a:p>
            <a:r>
              <a:rPr lang="en-IN" altLang="en-US" sz="4000" b="1">
                <a:latin typeface="Times New Roman" panose="02020603050405020304" pitchFamily="18" charset="0"/>
                <a:cs typeface="Times New Roman" panose="02020603050405020304" pitchFamily="18" charset="0"/>
              </a:rPr>
              <a:t>Two Categorical Columns</a:t>
            </a:r>
            <a:endParaRPr lang="en-IN" altLang="en-US" sz="4000" b="1">
              <a:latin typeface="Times New Roman" panose="02020603050405020304" pitchFamily="18" charset="0"/>
              <a:cs typeface="Times New Roman" panose="02020603050405020304" pitchFamily="18" charset="0"/>
            </a:endParaRPr>
          </a:p>
        </p:txBody>
      </p:sp>
      <p:pic>
        <p:nvPicPr>
          <p:cNvPr id="5" name="Picture Placeholder 4"/>
          <p:cNvPicPr>
            <a:picLocks noChangeAspect="1"/>
          </p:cNvPicPr>
          <p:nvPr>
            <p:ph type="pic" idx="2"/>
          </p:nvPr>
        </p:nvPicPr>
        <p:blipFill>
          <a:blip r:embed="rId1"/>
          <a:stretch>
            <a:fillRect/>
          </a:stretch>
        </p:blipFill>
        <p:spPr>
          <a:xfrm>
            <a:off x="4772025" y="3155315"/>
            <a:ext cx="4258945" cy="2852420"/>
          </a:xfrm>
          <a:prstGeom prst="rect">
            <a:avLst/>
          </a:prstGeom>
        </p:spPr>
      </p:pic>
      <p:sp>
        <p:nvSpPr>
          <p:cNvPr id="4" name="Text Placeholder 3"/>
          <p:cNvSpPr>
            <a:spLocks noGrp="1"/>
          </p:cNvSpPr>
          <p:nvPr>
            <p:ph type="body" idx="1"/>
          </p:nvPr>
        </p:nvSpPr>
        <p:spPr>
          <a:xfrm>
            <a:off x="386715" y="1218565"/>
            <a:ext cx="4443095" cy="5501640"/>
          </a:xfrm>
        </p:spPr>
        <p:txBody>
          <a:bodyPr>
            <a:noAutofit/>
          </a:bodyPr>
          <a:p>
            <a:pPr marL="514350" indent="-285750" algn="just">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rPr>
              <a:t>Explored combinations such as Order Type vs Payment Method and Product Category vs Day to understand customer preferences and sales patterns.</a:t>
            </a:r>
            <a:endParaRPr lang="en-US" altLang="en-US" sz="1800">
              <a:latin typeface="Times New Roman" panose="02020603050405020304" pitchFamily="18" charset="0"/>
              <a:cs typeface="Times New Roman" panose="02020603050405020304" pitchFamily="18" charset="0"/>
            </a:endParaRPr>
          </a:p>
          <a:p>
            <a:pPr algn="just"/>
            <a:endParaRPr lang="en-US" altLang="en-US" sz="1800">
              <a:latin typeface="Times New Roman" panose="02020603050405020304" pitchFamily="18" charset="0"/>
              <a:cs typeface="Times New Roman" panose="02020603050405020304" pitchFamily="18" charset="0"/>
            </a:endParaRPr>
          </a:p>
          <a:p>
            <a:pPr algn="just"/>
            <a:r>
              <a:rPr lang="en-US" altLang="en-US" sz="1800" b="1">
                <a:latin typeface="Times New Roman" panose="02020603050405020304" pitchFamily="18" charset="0"/>
                <a:cs typeface="Times New Roman" panose="02020603050405020304" pitchFamily="18" charset="0"/>
              </a:rPr>
              <a:t>Techniques Used:</a:t>
            </a:r>
            <a:endParaRPr lang="en-US" altLang="en-US" sz="1800" b="1">
              <a:latin typeface="Times New Roman" panose="02020603050405020304" pitchFamily="18" charset="0"/>
              <a:cs typeface="Times New Roman" panose="02020603050405020304" pitchFamily="18" charset="0"/>
            </a:endParaRPr>
          </a:p>
          <a:p>
            <a:pPr algn="just"/>
            <a:r>
              <a:rPr lang="en-IN"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Utilized</a:t>
            </a:r>
            <a:r>
              <a:rPr lang="en-IN" altLang="en-US" sz="1800">
                <a:latin typeface="Times New Roman" panose="02020603050405020304" pitchFamily="18" charset="0"/>
                <a:cs typeface="Times New Roman" panose="02020603050405020304" pitchFamily="18" charset="0"/>
              </a:rPr>
              <a:t> Grouped </a:t>
            </a:r>
            <a:r>
              <a:rPr lang="en-US" altLang="en-US" sz="1800">
                <a:latin typeface="Times New Roman" panose="02020603050405020304" pitchFamily="18" charset="0"/>
                <a:cs typeface="Times New Roman" panose="02020603050405020304" pitchFamily="18" charset="0"/>
              </a:rPr>
              <a:t>Bar Charts, </a:t>
            </a:r>
            <a:r>
              <a:rPr lang="en-IN" altLang="en-US" sz="1800">
                <a:latin typeface="Times New Roman" panose="02020603050405020304" pitchFamily="18" charset="0"/>
                <a:cs typeface="Times New Roman" panose="02020603050405020304" pitchFamily="18" charset="0"/>
              </a:rPr>
              <a:t>Regression </a:t>
            </a:r>
            <a:r>
              <a:rPr lang="en-US" altLang="en-US" sz="1800">
                <a:latin typeface="Times New Roman" panose="02020603050405020304" pitchFamily="18" charset="0"/>
                <a:cs typeface="Times New Roman" panose="02020603050405020304" pitchFamily="18" charset="0"/>
              </a:rPr>
              <a:t>and Heatmaps to visualize category-wise distribution and frequency.</a:t>
            </a:r>
            <a:endParaRPr lang="en-US" altLang="en-US" sz="1800">
              <a:latin typeface="Times New Roman" panose="02020603050405020304" pitchFamily="18" charset="0"/>
              <a:cs typeface="Times New Roman" panose="02020603050405020304" pitchFamily="18" charset="0"/>
            </a:endParaRPr>
          </a:p>
          <a:p>
            <a:pPr algn="just"/>
            <a:endParaRPr lang="en-US" altLang="en-US" sz="1800">
              <a:latin typeface="Times New Roman" panose="02020603050405020304" pitchFamily="18" charset="0"/>
              <a:cs typeface="Times New Roman" panose="02020603050405020304" pitchFamily="18" charset="0"/>
            </a:endParaRPr>
          </a:p>
          <a:p>
            <a:pPr algn="just"/>
            <a:r>
              <a:rPr lang="en-US" altLang="en-US" sz="1800" b="1">
                <a:latin typeface="Times New Roman" panose="02020603050405020304" pitchFamily="18" charset="0"/>
                <a:cs typeface="Times New Roman" panose="02020603050405020304" pitchFamily="18" charset="0"/>
              </a:rPr>
              <a:t>Findings:</a:t>
            </a:r>
            <a:endParaRPr lang="en-US" altLang="en-US" sz="1800" b="1">
              <a:latin typeface="Times New Roman" panose="02020603050405020304" pitchFamily="18" charset="0"/>
              <a:cs typeface="Times New Roman" panose="02020603050405020304" pitchFamily="18" charset="0"/>
            </a:endParaRPr>
          </a:p>
          <a:p>
            <a:pPr algn="just"/>
            <a:r>
              <a:rPr lang="en-IN"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Clear patterns observed — Dine-In orders mostly used digital payments, and Beverages and Bakery items were most preferred, especially on weekends, showing strong customer preference trends.</a:t>
            </a:r>
            <a:endParaRPr lang="en-US" altLang="en-US" sz="180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8908415" y="3155315"/>
            <a:ext cx="3284220" cy="2714625"/>
          </a:xfrm>
          <a:prstGeom prst="rect">
            <a:avLst/>
          </a:prstGeom>
        </p:spPr>
      </p:pic>
      <p:pic>
        <p:nvPicPr>
          <p:cNvPr id="7" name="Picture Placeholder 4"/>
          <p:cNvPicPr>
            <a:picLocks noChangeAspect="1"/>
          </p:cNvPicPr>
          <p:nvPr/>
        </p:nvPicPr>
        <p:blipFill>
          <a:blip r:embed="rId3"/>
          <a:stretch>
            <a:fillRect/>
          </a:stretch>
        </p:blipFill>
        <p:spPr>
          <a:xfrm>
            <a:off x="4935220" y="909955"/>
            <a:ext cx="3893820" cy="2413000"/>
          </a:xfrm>
          <a:prstGeom prst="rect">
            <a:avLst/>
          </a:prstGeom>
          <a:noFill/>
          <a:ln>
            <a:noFill/>
          </a:ln>
        </p:spPr>
      </p:pic>
      <p:pic>
        <p:nvPicPr>
          <p:cNvPr id="8" name="Picture 7"/>
          <p:cNvPicPr>
            <a:picLocks noChangeAspect="1"/>
          </p:cNvPicPr>
          <p:nvPr/>
        </p:nvPicPr>
        <p:blipFill>
          <a:blip r:embed="rId4"/>
          <a:stretch>
            <a:fillRect/>
          </a:stretch>
        </p:blipFill>
        <p:spPr>
          <a:xfrm>
            <a:off x="8935085" y="834390"/>
            <a:ext cx="3266440" cy="21964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 y="-168275"/>
            <a:ext cx="5050790" cy="1570990"/>
          </a:xfrm>
        </p:spPr>
        <p:txBody>
          <a:bodyPr>
            <a:normAutofit fontScale="90000"/>
          </a:bodyPr>
          <a:p>
            <a:r>
              <a:rPr lang="en-US" altLang="en-US" sz="4445" b="1">
                <a:latin typeface="Times New Roman" panose="02020603050405020304" pitchFamily="18" charset="0"/>
                <a:cs typeface="Times New Roman" panose="02020603050405020304" pitchFamily="18" charset="0"/>
              </a:rPr>
              <a:t>One categorical and one numerical column</a:t>
            </a:r>
            <a:endParaRPr lang="en-US" altLang="en-US" sz="4445" b="1">
              <a:latin typeface="Times New Roman" panose="02020603050405020304" pitchFamily="18" charset="0"/>
              <a:cs typeface="Times New Roman" panose="02020603050405020304" pitchFamily="18" charset="0"/>
            </a:endParaRPr>
          </a:p>
        </p:txBody>
      </p:sp>
      <p:pic>
        <p:nvPicPr>
          <p:cNvPr id="5" name="Picture Placeholder 4"/>
          <p:cNvPicPr>
            <a:picLocks noChangeAspect="1"/>
          </p:cNvPicPr>
          <p:nvPr>
            <p:ph type="pic" idx="2"/>
          </p:nvPr>
        </p:nvPicPr>
        <p:blipFill>
          <a:blip r:embed="rId1"/>
          <a:stretch>
            <a:fillRect/>
          </a:stretch>
        </p:blipFill>
        <p:spPr>
          <a:xfrm>
            <a:off x="5038090" y="672465"/>
            <a:ext cx="3925570" cy="2406650"/>
          </a:xfrm>
          <a:prstGeom prst="rect">
            <a:avLst/>
          </a:prstGeom>
        </p:spPr>
      </p:pic>
      <p:sp>
        <p:nvSpPr>
          <p:cNvPr id="4" name="Text Placeholder 3"/>
          <p:cNvSpPr>
            <a:spLocks noGrp="1"/>
          </p:cNvSpPr>
          <p:nvPr>
            <p:ph type="body" idx="1"/>
          </p:nvPr>
        </p:nvSpPr>
        <p:spPr>
          <a:xfrm>
            <a:off x="213360" y="1478280"/>
            <a:ext cx="4558665" cy="5316855"/>
          </a:xfrm>
        </p:spPr>
        <p:txBody>
          <a:bodyPr>
            <a:noAutofit/>
          </a:bodyPr>
          <a:p>
            <a:pPr marL="514350" indent="-285750" algn="just">
              <a:buFont typeface="Arial" panose="020B0604020202020204" pitchFamily="34" charset="0"/>
              <a:buChar char="•"/>
            </a:pPr>
            <a:r>
              <a:rPr lang="en-US" altLang="en-US" sz="1800">
                <a:latin typeface="Times New Roman" panose="02020603050405020304" pitchFamily="18" charset="0"/>
                <a:cs typeface="Times New Roman" panose="02020603050405020304" pitchFamily="18" charset="0"/>
              </a:rPr>
              <a:t>Explored combinations such as Category vs Total Sales and Order Type vs Total Amount to understand how sales values vary across different café segments.</a:t>
            </a:r>
            <a:endParaRPr lang="en-US" altLang="en-US" sz="1800">
              <a:latin typeface="Times New Roman" panose="02020603050405020304" pitchFamily="18" charset="0"/>
              <a:cs typeface="Times New Roman" panose="02020603050405020304" pitchFamily="18" charset="0"/>
            </a:endParaRPr>
          </a:p>
          <a:p>
            <a:pPr algn="just"/>
            <a:endParaRPr lang="en-US" altLang="en-US" sz="1800">
              <a:latin typeface="Times New Roman" panose="02020603050405020304" pitchFamily="18" charset="0"/>
              <a:cs typeface="Times New Roman" panose="02020603050405020304" pitchFamily="18" charset="0"/>
            </a:endParaRPr>
          </a:p>
          <a:p>
            <a:pPr algn="just"/>
            <a:r>
              <a:rPr lang="en-US" altLang="en-US" sz="1800" b="1">
                <a:latin typeface="Times New Roman" panose="02020603050405020304" pitchFamily="18" charset="0"/>
                <a:cs typeface="Times New Roman" panose="02020603050405020304" pitchFamily="18" charset="0"/>
              </a:rPr>
              <a:t>Techniques Used:</a:t>
            </a:r>
            <a:endParaRPr lang="en-US" altLang="en-US" sz="1800" b="1">
              <a:latin typeface="Times New Roman" panose="02020603050405020304" pitchFamily="18" charset="0"/>
              <a:cs typeface="Times New Roman" panose="02020603050405020304" pitchFamily="18" charset="0"/>
            </a:endParaRPr>
          </a:p>
          <a:p>
            <a:pPr algn="just"/>
            <a:r>
              <a:rPr lang="en-US" altLang="en-US" sz="1800">
                <a:latin typeface="Times New Roman" panose="02020603050405020304" pitchFamily="18" charset="0"/>
                <a:cs typeface="Times New Roman" panose="02020603050405020304" pitchFamily="18" charset="0"/>
              </a:rPr>
              <a:t>Utilized Bar Charts</a:t>
            </a:r>
            <a:r>
              <a:rPr lang="en-IN" altLang="en-US" sz="1800">
                <a:latin typeface="Times New Roman" panose="02020603050405020304" pitchFamily="18" charset="0"/>
                <a:cs typeface="Times New Roman" panose="02020603050405020304" pitchFamily="18" charset="0"/>
              </a:rPr>
              <a:t>, violin plot </a:t>
            </a:r>
            <a:r>
              <a:rPr lang="en-US" altLang="en-US" sz="1800">
                <a:latin typeface="Times New Roman" panose="02020603050405020304" pitchFamily="18" charset="0"/>
                <a:cs typeface="Times New Roman" panose="02020603050405020304" pitchFamily="18" charset="0"/>
              </a:rPr>
              <a:t>and Box Plots to compare numerical sales values across categories and identify spending patterns.</a:t>
            </a:r>
            <a:endParaRPr lang="en-US" altLang="en-US" sz="1800">
              <a:latin typeface="Times New Roman" panose="02020603050405020304" pitchFamily="18" charset="0"/>
              <a:cs typeface="Times New Roman" panose="02020603050405020304" pitchFamily="18" charset="0"/>
            </a:endParaRPr>
          </a:p>
          <a:p>
            <a:pPr algn="just"/>
            <a:endParaRPr lang="en-US" altLang="en-US" sz="1800">
              <a:latin typeface="Times New Roman" panose="02020603050405020304" pitchFamily="18" charset="0"/>
              <a:cs typeface="Times New Roman" panose="02020603050405020304" pitchFamily="18" charset="0"/>
            </a:endParaRPr>
          </a:p>
          <a:p>
            <a:pPr algn="just"/>
            <a:r>
              <a:rPr lang="en-US" altLang="en-US" sz="1800" b="1">
                <a:latin typeface="Times New Roman" panose="02020603050405020304" pitchFamily="18" charset="0"/>
                <a:cs typeface="Times New Roman" panose="02020603050405020304" pitchFamily="18" charset="0"/>
              </a:rPr>
              <a:t>Findings:</a:t>
            </a:r>
            <a:endParaRPr lang="en-US" altLang="en-US" sz="1800" b="1">
              <a:latin typeface="Times New Roman" panose="02020603050405020304" pitchFamily="18" charset="0"/>
              <a:cs typeface="Times New Roman" panose="02020603050405020304" pitchFamily="18" charset="0"/>
            </a:endParaRPr>
          </a:p>
          <a:p>
            <a:pPr algn="just"/>
            <a:r>
              <a:rPr lang="en-US" altLang="en-US" sz="1800">
                <a:latin typeface="Times New Roman" panose="02020603050405020304" pitchFamily="18" charset="0"/>
                <a:cs typeface="Times New Roman" panose="02020603050405020304" pitchFamily="18" charset="0"/>
              </a:rPr>
              <a:t>Clear trend observed — Dine-In orders showed higher average spending, and Beverage and Bakery categories generated the most revenue, indicating strong customer preference and higher spending in these categories.</a:t>
            </a:r>
            <a:endParaRPr lang="en-US" altLang="en-US" sz="180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5244465" y="3222625"/>
            <a:ext cx="6417310" cy="2646680"/>
          </a:xfrm>
          <a:prstGeom prst="rect">
            <a:avLst/>
          </a:prstGeom>
        </p:spPr>
      </p:pic>
      <p:pic>
        <p:nvPicPr>
          <p:cNvPr id="7" name="Picture 6"/>
          <p:cNvPicPr>
            <a:picLocks noChangeAspect="1"/>
          </p:cNvPicPr>
          <p:nvPr/>
        </p:nvPicPr>
        <p:blipFill>
          <a:blip r:embed="rId3"/>
          <a:stretch>
            <a:fillRect/>
          </a:stretch>
        </p:blipFill>
        <p:spPr>
          <a:xfrm>
            <a:off x="8819515" y="579120"/>
            <a:ext cx="3372485" cy="24999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8900" y="-269875"/>
            <a:ext cx="5328920" cy="1602740"/>
          </a:xfrm>
        </p:spPr>
        <p:txBody>
          <a:bodyPr>
            <a:normAutofit fontScale="90000"/>
          </a:bodyPr>
          <a:p>
            <a:r>
              <a:rPr lang="en-US" altLang="en-US" sz="4445" b="1">
                <a:latin typeface="Times New Roman" panose="02020603050405020304" pitchFamily="18" charset="0"/>
                <a:cs typeface="Times New Roman" panose="02020603050405020304" pitchFamily="18" charset="0"/>
              </a:rPr>
              <a:t>Multivariate Analysis </a:t>
            </a:r>
            <a:br>
              <a:rPr lang="en-US" altLang="en-US" sz="4445" b="1">
                <a:latin typeface="Times New Roman" panose="02020603050405020304" pitchFamily="18" charset="0"/>
                <a:cs typeface="Times New Roman" panose="02020603050405020304" pitchFamily="18" charset="0"/>
              </a:rPr>
            </a:br>
            <a:endParaRPr lang="en-US" altLang="en-US" sz="4445" b="1">
              <a:latin typeface="Times New Roman" panose="02020603050405020304" pitchFamily="18" charset="0"/>
              <a:cs typeface="Times New Roman" panose="02020603050405020304" pitchFamily="18" charset="0"/>
            </a:endParaRPr>
          </a:p>
        </p:txBody>
      </p:sp>
      <p:pic>
        <p:nvPicPr>
          <p:cNvPr id="5" name="Picture Placeholder 4"/>
          <p:cNvPicPr>
            <a:picLocks noChangeAspect="1"/>
          </p:cNvPicPr>
          <p:nvPr>
            <p:ph type="pic" idx="2"/>
          </p:nvPr>
        </p:nvPicPr>
        <p:blipFill>
          <a:blip r:embed="rId1"/>
          <a:stretch>
            <a:fillRect/>
          </a:stretch>
        </p:blipFill>
        <p:spPr>
          <a:xfrm>
            <a:off x="5222240" y="847090"/>
            <a:ext cx="6682740" cy="2582545"/>
          </a:xfrm>
          <a:prstGeom prst="rect">
            <a:avLst/>
          </a:prstGeom>
        </p:spPr>
      </p:pic>
      <p:sp>
        <p:nvSpPr>
          <p:cNvPr id="4" name="Text Placeholder 3"/>
          <p:cNvSpPr>
            <a:spLocks noGrp="1"/>
          </p:cNvSpPr>
          <p:nvPr>
            <p:ph type="body" idx="1"/>
          </p:nvPr>
        </p:nvSpPr>
        <p:spPr>
          <a:xfrm>
            <a:off x="368300" y="977900"/>
            <a:ext cx="4403725" cy="5880100"/>
          </a:xfrm>
        </p:spPr>
        <p:txBody>
          <a:bodyPr>
            <a:noAutofit/>
          </a:bodyPr>
          <a:p>
            <a:pPr marL="5143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Performed multivariate analysis by examining combinations such as Category, Order Type, and Total Sales to understand how multiple factors together influence café performance and customer spending behavior.</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Techniques Used:</a:t>
            </a:r>
            <a:endParaRPr lang="en-US" altLang="en-US" b="1">
              <a:latin typeface="Times New Roman" panose="02020603050405020304" pitchFamily="18" charset="0"/>
              <a:cs typeface="Times New Roman" panose="02020603050405020304" pitchFamily="18" charset="0"/>
            </a:endParaRPr>
          </a:p>
          <a:p>
            <a:pPr algn="just"/>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Utilized Pair Plots, Heatmaps, and Stacked Bar Charts to study interactions between multiple variables and identify key patterns across categories, order modes, and sales values.</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algn="just"/>
            <a:r>
              <a:rPr lang="en-US" altLang="en-US" b="1">
                <a:latin typeface="Times New Roman" panose="02020603050405020304" pitchFamily="18" charset="0"/>
                <a:cs typeface="Times New Roman" panose="02020603050405020304" pitchFamily="18" charset="0"/>
              </a:rPr>
              <a:t>Findings:</a:t>
            </a:r>
            <a:endParaRPr lang="en-US" altLang="en-US" b="1">
              <a:latin typeface="Times New Roman" panose="02020603050405020304" pitchFamily="18" charset="0"/>
              <a:cs typeface="Times New Roman" panose="02020603050405020304" pitchFamily="18" charset="0"/>
            </a:endParaRPr>
          </a:p>
          <a:p>
            <a:pPr algn="just"/>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Insights revealed that Beverage and Bakery categories had the highest sales, especially for Dine-In orders paid through digital modes, indicating strong preference for in-store beverage consumption and growing digital payment adoption.</a:t>
            </a:r>
            <a:endParaRPr lang="en-US" alt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5417820" y="3429635"/>
            <a:ext cx="6487795" cy="26758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966723"/>
          </a:xfrm>
        </p:spPr>
        <p:txBody>
          <a:bodyPr>
            <a:normAutofit/>
          </a:bodyPr>
          <a:lstStyle/>
          <a:p>
            <a:r>
              <a:rPr lang="en-US" sz="4000" b="1" dirty="0">
                <a:solidFill>
                  <a:schemeClr val="tx1"/>
                </a:solidFill>
                <a:latin typeface="Times New Roman" panose="02020603050405020304" pitchFamily="18" charset="0"/>
                <a:cs typeface="Times New Roman" panose="02020603050405020304" pitchFamily="18" charset="0"/>
              </a:rPr>
              <a:t>Insights</a:t>
            </a:r>
            <a:endParaRPr lang="en-US" sz="4000" b="1" dirty="0">
              <a:solidFill>
                <a:schemeClr val="tx1"/>
              </a:solidFill>
              <a:latin typeface="Times New Roman" panose="02020603050405020304" pitchFamily="18" charset="0"/>
              <a:cs typeface="Times New Roman" panose="02020603050405020304" pitchFamily="18" charset="0"/>
            </a:endParaRPr>
          </a:p>
        </p:txBody>
      </p:sp>
      <p:sp>
        <p:nvSpPr>
          <p:cNvPr id="8" name="Text Placeholder 7"/>
          <p:cNvSpPr>
            <a:spLocks noGrp="1"/>
          </p:cNvSpPr>
          <p:nvPr>
            <p:ph type="body" idx="1"/>
          </p:nvPr>
        </p:nvSpPr>
        <p:spPr>
          <a:xfrm>
            <a:off x="673608" y="1331848"/>
            <a:ext cx="10515600" cy="4931791"/>
          </a:xfrm>
        </p:spPr>
        <p:txBody>
          <a:bodyPr>
            <a:normAutofit/>
          </a:bodyPr>
          <a:lstStyle/>
          <a:p>
            <a:pPr algn="just"/>
            <a:r>
              <a:rPr lang="en-US" altLang="en-US" sz="1800" b="1" dirty="0">
                <a:latin typeface="Times New Roman" panose="02020603050405020304" pitchFamily="18" charset="0"/>
                <a:cs typeface="Times New Roman" panose="02020603050405020304" pitchFamily="18" charset="0"/>
              </a:rPr>
              <a:t>Sales Patterns: </a:t>
            </a:r>
            <a:r>
              <a:rPr lang="en-US" altLang="en-US" sz="1800" dirty="0">
                <a:latin typeface="Times New Roman" panose="02020603050405020304" pitchFamily="18" charset="0"/>
                <a:cs typeface="Times New Roman" panose="02020603050405020304" pitchFamily="18" charset="0"/>
              </a:rPr>
              <a:t>Peak sales occurred during morning </a:t>
            </a:r>
            <a:r>
              <a:rPr lang="en-US" altLang="en-US" sz="1800" b="1" dirty="0">
                <a:latin typeface="Times New Roman" panose="02020603050405020304" pitchFamily="18" charset="0"/>
                <a:cs typeface="Times New Roman" panose="02020603050405020304" pitchFamily="18" charset="0"/>
              </a:rPr>
              <a:t>(8–11 AM) </a:t>
            </a:r>
            <a:r>
              <a:rPr lang="en-US" altLang="en-US" sz="1800" dirty="0">
                <a:latin typeface="Times New Roman" panose="02020603050405020304" pitchFamily="18" charset="0"/>
                <a:cs typeface="Times New Roman" panose="02020603050405020304" pitchFamily="18" charset="0"/>
              </a:rPr>
              <a:t>and </a:t>
            </a:r>
            <a:r>
              <a:rPr lang="en-US" altLang="en-US" sz="1800" b="1" dirty="0">
                <a:latin typeface="Times New Roman" panose="02020603050405020304" pitchFamily="18" charset="0"/>
                <a:cs typeface="Times New Roman" panose="02020603050405020304" pitchFamily="18" charset="0"/>
              </a:rPr>
              <a:t>evening (4–7 PM) </a:t>
            </a:r>
            <a:r>
              <a:rPr lang="en-US" altLang="en-US" sz="1800" dirty="0">
                <a:latin typeface="Times New Roman" panose="02020603050405020304" pitchFamily="18" charset="0"/>
                <a:cs typeface="Times New Roman" panose="02020603050405020304" pitchFamily="18" charset="0"/>
              </a:rPr>
              <a:t>hours, indicating strong customer activity during coffee breaks.</a:t>
            </a:r>
            <a:endParaRPr lang="en-US" altLang="en-US" sz="1800" dirty="0">
              <a:latin typeface="Times New Roman" panose="02020603050405020304" pitchFamily="18" charset="0"/>
              <a:cs typeface="Times New Roman" panose="02020603050405020304" pitchFamily="18" charset="0"/>
            </a:endParaRPr>
          </a:p>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b="1" dirty="0">
                <a:latin typeface="Times New Roman" panose="02020603050405020304" pitchFamily="18" charset="0"/>
                <a:cs typeface="Times New Roman" panose="02020603050405020304" pitchFamily="18" charset="0"/>
              </a:rPr>
              <a:t>Top Products: Coffee, Sandwiches, and Bakery items</a:t>
            </a:r>
            <a:r>
              <a:rPr lang="en-US" altLang="en-US" sz="1800" dirty="0">
                <a:latin typeface="Times New Roman" panose="02020603050405020304" pitchFamily="18" charset="0"/>
                <a:cs typeface="Times New Roman" panose="02020603050405020304" pitchFamily="18" charset="0"/>
              </a:rPr>
              <a:t> generated the highest revenue, showing strong customer preference for quick snacks and beverages.</a:t>
            </a:r>
            <a:endParaRPr lang="en-US" altLang="en-US" sz="1800" dirty="0">
              <a:latin typeface="Times New Roman" panose="02020603050405020304" pitchFamily="18" charset="0"/>
              <a:cs typeface="Times New Roman" panose="02020603050405020304" pitchFamily="18" charset="0"/>
            </a:endParaRPr>
          </a:p>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b="1" dirty="0">
                <a:latin typeface="Times New Roman" panose="02020603050405020304" pitchFamily="18" charset="0"/>
                <a:cs typeface="Times New Roman" panose="02020603050405020304" pitchFamily="18" charset="0"/>
              </a:rPr>
              <a:t>Payment Trends: </a:t>
            </a:r>
            <a:r>
              <a:rPr lang="en-US" altLang="en-US" sz="1800" dirty="0">
                <a:latin typeface="Times New Roman" panose="02020603050405020304" pitchFamily="18" charset="0"/>
                <a:cs typeface="Times New Roman" panose="02020603050405020304" pitchFamily="18" charset="0"/>
              </a:rPr>
              <a:t>Majority of customers preferred </a:t>
            </a:r>
            <a:r>
              <a:rPr lang="en-US" altLang="en-US" sz="1800" b="1" dirty="0">
                <a:latin typeface="Times New Roman" panose="02020603050405020304" pitchFamily="18" charset="0"/>
                <a:cs typeface="Times New Roman" panose="02020603050405020304" pitchFamily="18" charset="0"/>
              </a:rPr>
              <a:t>digital payments (UPI/Card) </a:t>
            </a:r>
            <a:r>
              <a:rPr lang="en-US" altLang="en-US" sz="1800" dirty="0">
                <a:latin typeface="Times New Roman" panose="02020603050405020304" pitchFamily="18" charset="0"/>
                <a:cs typeface="Times New Roman" panose="02020603050405020304" pitchFamily="18" charset="0"/>
              </a:rPr>
              <a:t>over cash, highlighting a shift toward cashless transactions.</a:t>
            </a:r>
            <a:endParaRPr lang="en-US" altLang="en-US" sz="1800" dirty="0">
              <a:latin typeface="Times New Roman" panose="02020603050405020304" pitchFamily="18" charset="0"/>
              <a:cs typeface="Times New Roman" panose="02020603050405020304" pitchFamily="18" charset="0"/>
            </a:endParaRPr>
          </a:p>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b="1" dirty="0">
                <a:latin typeface="Times New Roman" panose="02020603050405020304" pitchFamily="18" charset="0"/>
                <a:cs typeface="Times New Roman" panose="02020603050405020304" pitchFamily="18" charset="0"/>
              </a:rPr>
              <a:t>Day &amp; Month Trends: Weekends</a:t>
            </a:r>
            <a:r>
              <a:rPr lang="en-US" altLang="en-US" sz="1800" dirty="0">
                <a:latin typeface="Times New Roman" panose="02020603050405020304" pitchFamily="18" charset="0"/>
                <a:cs typeface="Times New Roman" panose="02020603050405020304" pitchFamily="18" charset="0"/>
              </a:rPr>
              <a:t> showed higher sales compared to weekdays, and </a:t>
            </a:r>
            <a:r>
              <a:rPr lang="en-US" altLang="en-US" sz="1800" b="1" dirty="0">
                <a:latin typeface="Times New Roman" panose="02020603050405020304" pitchFamily="18" charset="0"/>
                <a:cs typeface="Times New Roman" panose="02020603050405020304" pitchFamily="18" charset="0"/>
              </a:rPr>
              <a:t>festive months </a:t>
            </a:r>
            <a:r>
              <a:rPr lang="en-US" altLang="en-US" sz="1800" dirty="0">
                <a:latin typeface="Times New Roman" panose="02020603050405020304" pitchFamily="18" charset="0"/>
                <a:cs typeface="Times New Roman" panose="02020603050405020304" pitchFamily="18" charset="0"/>
              </a:rPr>
              <a:t>recorded noticeable revenue spikes.</a:t>
            </a:r>
            <a:endParaRPr lang="en-US" altLang="en-US" sz="1800" dirty="0">
              <a:latin typeface="Times New Roman" panose="02020603050405020304" pitchFamily="18" charset="0"/>
              <a:cs typeface="Times New Roman" panose="02020603050405020304" pitchFamily="18" charset="0"/>
            </a:endParaRPr>
          </a:p>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b="1" dirty="0">
                <a:latin typeface="Times New Roman" panose="02020603050405020304" pitchFamily="18" charset="0"/>
                <a:cs typeface="Times New Roman" panose="02020603050405020304" pitchFamily="18" charset="0"/>
              </a:rPr>
              <a:t>Business Insight:</a:t>
            </a:r>
            <a:r>
              <a:rPr lang="en-US" altLang="en-US" sz="1800" dirty="0">
                <a:latin typeface="Times New Roman" panose="02020603050405020304" pitchFamily="18" charset="0"/>
                <a:cs typeface="Times New Roman" panose="02020603050405020304" pitchFamily="18" charset="0"/>
              </a:rPr>
              <a:t> Data-driven understanding helps in </a:t>
            </a:r>
            <a:r>
              <a:rPr lang="en-US" altLang="en-US" sz="1800" b="1" dirty="0">
                <a:latin typeface="Times New Roman" panose="02020603050405020304" pitchFamily="18" charset="0"/>
                <a:cs typeface="Times New Roman" panose="02020603050405020304" pitchFamily="18" charset="0"/>
              </a:rPr>
              <a:t>optimizing inventory, planning promotions, and improving customer experience.</a:t>
            </a:r>
            <a:endParaRPr lang="en-US" alt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888" y="593725"/>
            <a:ext cx="9110472" cy="805307"/>
          </a:xfrm>
        </p:spPr>
        <p:txBody>
          <a:bodyPr>
            <a:normAutofit/>
          </a:bodyPr>
          <a:lstStyle/>
          <a:p>
            <a:r>
              <a:rPr lang="en-IN"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955040" y="1562735"/>
            <a:ext cx="10198100" cy="4608195"/>
          </a:xfrm>
          <a:prstGeom prst="rect">
            <a:avLst/>
          </a:prstGeom>
          <a:noFill/>
        </p:spPr>
        <p:txBody>
          <a:bodyPr wrap="square" rtlCol="0">
            <a:noAutofit/>
          </a:bodyPr>
          <a:p>
            <a:pPr algn="just"/>
            <a:r>
              <a:rPr lang="en-US" altLang="en-US" sz="2000">
                <a:latin typeface="Times New Roman" panose="02020603050405020304" pitchFamily="18" charset="0"/>
                <a:cs typeface="Times New Roman" panose="02020603050405020304" pitchFamily="18" charset="0"/>
              </a:rPr>
              <a:t>The café sales analysis provided valuable insights into customer behavior and revenue trends. Numerical and categorical comparisons revealed that higher quantities and premium-priced items lead to higher total sales, while beverages and bakery items remain the most preferred categories, especially during weekends. Digital payments dominated, and dine-in customers showed higher average spending. Overall, the analysis helped identify top-performing product categories, popular order methods, and peak customer activity patterns.</a:t>
            </a:r>
            <a:endParaRPr lang="en-US" altLang="en-US" sz="2000">
              <a:latin typeface="Times New Roman" panose="02020603050405020304" pitchFamily="18" charset="0"/>
              <a:cs typeface="Times New Roman" panose="02020603050405020304" pitchFamily="18" charset="0"/>
            </a:endParaRPr>
          </a:p>
          <a:p>
            <a:pPr algn="just"/>
            <a:endParaRPr lang="en-IN" altLang="en-US" sz="2000" b="1">
              <a:latin typeface="Times New Roman" panose="02020603050405020304" pitchFamily="18" charset="0"/>
              <a:cs typeface="Times New Roman" panose="02020603050405020304" pitchFamily="18" charset="0"/>
            </a:endParaRPr>
          </a:p>
          <a:p>
            <a:pPr algn="just"/>
            <a:endParaRPr lang="en-IN" altLang="en-US" sz="2000" b="1">
              <a:latin typeface="Times New Roman" panose="02020603050405020304" pitchFamily="18" charset="0"/>
              <a:cs typeface="Times New Roman" panose="02020603050405020304" pitchFamily="18" charset="0"/>
            </a:endParaRPr>
          </a:p>
          <a:p>
            <a:pPr algn="just"/>
            <a:r>
              <a:rPr lang="en-IN" altLang="en-US" sz="2000" b="1">
                <a:latin typeface="Times New Roman" panose="02020603050405020304" pitchFamily="18" charset="0"/>
                <a:cs typeface="Times New Roman" panose="02020603050405020304" pitchFamily="18" charset="0"/>
              </a:rPr>
              <a:t>Final Note:</a:t>
            </a:r>
            <a:r>
              <a:rPr lang="en-IN" altLang="en-US" sz="2000">
                <a:latin typeface="Times New Roman" panose="02020603050405020304" pitchFamily="18" charset="0"/>
                <a:cs typeface="Times New Roman" panose="02020603050405020304" pitchFamily="18" charset="0"/>
              </a:rPr>
              <a:t> </a:t>
            </a:r>
            <a:endParaRPr lang="en-IN" altLang="en-US" sz="1000">
              <a:latin typeface="Times New Roman" panose="02020603050405020304" pitchFamily="18" charset="0"/>
              <a:cs typeface="Times New Roman" panose="02020603050405020304" pitchFamily="18" charset="0"/>
            </a:endParaRPr>
          </a:p>
          <a:p>
            <a:endParaRPr lang="en-IN" altLang="en-US" sz="1000">
              <a:latin typeface="Times New Roman" panose="02020603050405020304" pitchFamily="18" charset="0"/>
              <a:cs typeface="Times New Roman" panose="02020603050405020304" pitchFamily="18" charset="0"/>
            </a:endParaRPr>
          </a:p>
        </p:txBody>
      </p:sp>
      <p:sp>
        <p:nvSpPr>
          <p:cNvPr id="4" name="Text Box 3"/>
          <p:cNvSpPr txBox="1"/>
          <p:nvPr/>
        </p:nvSpPr>
        <p:spPr>
          <a:xfrm>
            <a:off x="2301875" y="4029075"/>
            <a:ext cx="9400540" cy="2040890"/>
          </a:xfrm>
          <a:prstGeom prst="rect">
            <a:avLst/>
          </a:prstGeom>
        </p:spPr>
        <p:txBody>
          <a:bodyPr>
            <a:noAutofit/>
          </a:bodyPr>
          <a:p>
            <a:r>
              <a:rPr lang="en-US" altLang="zh-CN" sz="1800">
                <a:latin typeface="Times New Roman" panose="02020603050405020304" pitchFamily="18" charset="0"/>
                <a:cs typeface="Times New Roman" panose="02020603050405020304" pitchFamily="18" charset="0"/>
              </a:rPr>
              <a:t>This analysis provides clear insights into customer behavior and sales performance, helping the café make smarter decisions to improve service and boost profits. </a:t>
            </a:r>
            <a:endParaRPr lang="en-US" altLang="zh-CN"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401701"/>
            <a:ext cx="10515600" cy="1325563"/>
          </a:xfrm>
        </p:spPr>
        <p:txBody>
          <a:bodyPr>
            <a:normAutofit/>
          </a:bodyPr>
          <a:lstStyle/>
          <a:p>
            <a:r>
              <a:rPr lang="en-US" sz="4000" b="1" dirty="0">
                <a:solidFill>
                  <a:schemeClr val="tx1"/>
                </a:solidFill>
                <a:latin typeface="Times New Roman" panose="02020603050405020304" pitchFamily="18" charset="0"/>
                <a:cs typeface="Times New Roman" panose="02020603050405020304" pitchFamily="18" charset="0"/>
              </a:rPr>
              <a:t>Future Scope:</a:t>
            </a:r>
            <a:endParaRPr lang="en-US" sz="4000" b="1"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55955" y="1965325"/>
            <a:ext cx="10441940" cy="3956050"/>
          </a:xfrm>
        </p:spPr>
        <p:txBody>
          <a:bodyPr>
            <a:normAutofit/>
          </a:bodyPr>
          <a:lstStyle/>
          <a:p>
            <a:pPr marL="114300" indent="0" algn="just">
              <a:buNone/>
            </a:pPr>
            <a:r>
              <a:rPr lang="en-US" altLang="en-US" sz="2000" dirty="0">
                <a:latin typeface="Times New Roman" panose="02020603050405020304" pitchFamily="18" charset="0"/>
                <a:cs typeface="Times New Roman" panose="02020603050405020304" pitchFamily="18" charset="0"/>
              </a:rPr>
              <a:t>In the future, this analysis can be expanded by integrating customer loyalty data to better understand repeat customer behavior and create targeted reward programs. Real-time dashboards and advanced forecasting models can be implemented to monitor sales trends and predict future demand more accurately. Incorporating customer feedback and online review sentiment will help improve service quality and product offerings. Furthermore, inventory and staff performance analysis can optimize resource planning and reduce waste. By including external factors such as weather or seasonal events and evaluating the impact of promotions or discounts, the café can enhance strategic decision-making, improve customer experience, and boost overall business efficiency.</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4465642" cy="11816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panose="02000000000000000000"/>
              <a:buNone/>
            </a:pPr>
            <a:r>
              <a:rPr lang="en-IN" sz="4000" b="0" i="0" u="none" strike="noStrike" cap="none" dirty="0">
                <a:solidFill>
                  <a:schemeClr val="tx1"/>
                </a:solidFill>
                <a:latin typeface="Times New Roman" panose="02020603050405020304" pitchFamily="18" charset="0"/>
                <a:ea typeface="Libre Baskerville" panose="02000000000000000000"/>
                <a:cs typeface="Times New Roman" panose="02020603050405020304" pitchFamily="18" charset="0"/>
                <a:sym typeface="Libre Baskerville" panose="02000000000000000000"/>
              </a:rPr>
              <a:t>THANK YOU</a:t>
            </a:r>
            <a:endParaRPr sz="4000" b="0" i="0" u="none" strike="noStrike" cap="none"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10243</Words>
  <Application>WPS Presentation</Application>
  <PresentationFormat>Custom</PresentationFormat>
  <Paragraphs>212</Paragraphs>
  <Slides>20</Slides>
  <Notes>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Arial</vt:lpstr>
      <vt:lpstr>SimSun</vt:lpstr>
      <vt:lpstr>Wingdings</vt:lpstr>
      <vt:lpstr>Arial</vt:lpstr>
      <vt:lpstr>Calibri</vt:lpstr>
      <vt:lpstr>Times New Roman</vt:lpstr>
      <vt:lpstr>Constantia</vt:lpstr>
      <vt:lpstr>Calibri</vt:lpstr>
      <vt:lpstr>Lato Black</vt:lpstr>
      <vt:lpstr>Libre Baskerville</vt:lpstr>
      <vt:lpstr>Microsoft YaHei</vt:lpstr>
      <vt:lpstr>Arial Unicode MS</vt:lpstr>
      <vt:lpstr>Berlin Sans FB Demi</vt:lpstr>
      <vt:lpstr>Vladimir Script</vt:lpstr>
      <vt:lpstr>Tahoma</vt:lpstr>
      <vt:lpstr>Default Design</vt:lpstr>
      <vt:lpstr>Presented By: B. Nityala Sri Likitha</vt:lpstr>
      <vt:lpstr>PowerPoint 演示文稿</vt:lpstr>
      <vt:lpstr>Cafe Sales Dataset Analysis</vt:lpstr>
      <vt:lpstr>PowerPoint 演示文稿</vt:lpstr>
      <vt:lpstr>Understanding the Column</vt:lpstr>
      <vt:lpstr>PowerPoint 演示文稿</vt:lpstr>
      <vt:lpstr>Handling Missing Data</vt:lpstr>
      <vt:lpstr>Handling Duplicates</vt:lpstr>
      <vt:lpstr>Fixing Inconsistence of Data</vt:lpstr>
      <vt:lpstr>Data Type conversion</vt:lpstr>
      <vt:lpstr>Univariate Analysis</vt:lpstr>
      <vt:lpstr>One Categorical column</vt:lpstr>
      <vt:lpstr>PowerPoint 演示文稿</vt:lpstr>
      <vt:lpstr>PowerPoint 演示文稿</vt:lpstr>
      <vt:lpstr>PowerPoint 演示文稿</vt:lpstr>
      <vt:lpstr>PowerPoint 演示文稿</vt:lpstr>
      <vt:lpstr>Insights</vt:lpstr>
      <vt:lpstr>Conclusion</vt:lpstr>
      <vt:lpstr>Future Scope: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Guru</cp:lastModifiedBy>
  <cp:revision>18</cp:revision>
  <dcterms:created xsi:type="dcterms:W3CDTF">2021-02-16T05:19:00Z</dcterms:created>
  <dcterms:modified xsi:type="dcterms:W3CDTF">2025-11-09T09:54:05Z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0C262A10FEFF4CC49A00669864C1A483_13</vt:lpwstr>
  </property>
  <property fmtid="{D5CDD505-2E9C-101B-9397-08002B2CF9AE}" pid="3" name="KSOProductBuildVer">
    <vt:lpwstr>1033-12.2.0.23155</vt:lpwstr>
  </property>
</Properties>
</file>